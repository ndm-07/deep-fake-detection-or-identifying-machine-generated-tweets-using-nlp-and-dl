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4"/>
  </p:notesMasterIdLst>
  <p:handoutMasterIdLst>
    <p:handoutMasterId r:id="rId35"/>
  </p:handoutMasterIdLst>
  <p:sldIdLst>
    <p:sldId id="256" r:id="rId2"/>
    <p:sldId id="273" r:id="rId3"/>
    <p:sldId id="286" r:id="rId4"/>
    <p:sldId id="257" r:id="rId5"/>
    <p:sldId id="287" r:id="rId6"/>
    <p:sldId id="288" r:id="rId7"/>
    <p:sldId id="284" r:id="rId8"/>
    <p:sldId id="297" r:id="rId9"/>
    <p:sldId id="275" r:id="rId10"/>
    <p:sldId id="280" r:id="rId11"/>
    <p:sldId id="281" r:id="rId12"/>
    <p:sldId id="282" r:id="rId13"/>
    <p:sldId id="276" r:id="rId14"/>
    <p:sldId id="289" r:id="rId15"/>
    <p:sldId id="290" r:id="rId16"/>
    <p:sldId id="319" r:id="rId17"/>
    <p:sldId id="296" r:id="rId18"/>
    <p:sldId id="295" r:id="rId19"/>
    <p:sldId id="320" r:id="rId20"/>
    <p:sldId id="326" r:id="rId21"/>
    <p:sldId id="322" r:id="rId22"/>
    <p:sldId id="327" r:id="rId23"/>
    <p:sldId id="323" r:id="rId24"/>
    <p:sldId id="325" r:id="rId25"/>
    <p:sldId id="328" r:id="rId26"/>
    <p:sldId id="329" r:id="rId27"/>
    <p:sldId id="330" r:id="rId28"/>
    <p:sldId id="324" r:id="rId29"/>
    <p:sldId id="277" r:id="rId30"/>
    <p:sldId id="279" r:id="rId31"/>
    <p:sldId id="278" r:id="rId32"/>
    <p:sldId id="27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3" autoAdjust="0"/>
    <p:restoredTop sz="94660"/>
  </p:normalViewPr>
  <p:slideViewPr>
    <p:cSldViewPr snapToGrid="0">
      <p:cViewPr varScale="1">
        <p:scale>
          <a:sx n="82" d="100"/>
          <a:sy n="82" d="100"/>
        </p:scale>
        <p:origin x="485" y="72"/>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13-02-2025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13-02-2025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2"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- 15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github.com/k-venky/CSD_2021-25_A-15"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a:spLocks/>
          </p:cNvSpPr>
          <p:nvPr/>
        </p:nvSpPr>
        <p:spPr>
          <a:xfrm>
            <a:off x="6095991"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E Madhuri</a:t>
            </a:r>
          </a:p>
          <a:p>
            <a:pPr>
              <a:spcBef>
                <a:spcPts val="300"/>
              </a:spcBef>
            </a:pPr>
            <a:r>
              <a:rPr lang="en-US" sz="1200" b="0" dirty="0"/>
              <a:t>Roll No. 214G1A3250</a:t>
            </a:r>
          </a:p>
        </p:txBody>
      </p:sp>
      <p:sp>
        <p:nvSpPr>
          <p:cNvPr id="6" name="Subtitle 11"/>
          <p:cNvSpPr txBox="1">
            <a:spLocks/>
          </p:cNvSpPr>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a:effectLst>
                  <a:outerShdw blurRad="38100" dist="38100" dir="2700000" algn="tl">
                    <a:srgbClr val="000000">
                      <a:alpha val="43137"/>
                    </a:srgbClr>
                  </a:outerShdw>
                </a:effectLst>
              </a:rPr>
              <a:t>Ms. G. Shabana  </a:t>
            </a:r>
            <a:r>
              <a:rPr lang="en-US" sz="2400" b="0" baseline="-25000" dirty="0">
                <a:effectLst>
                  <a:outerShdw blurRad="38100" dist="38100" dir="2700000" algn="tl">
                    <a:srgbClr val="000000">
                      <a:alpha val="43137"/>
                    </a:srgbClr>
                  </a:outerShdw>
                </a:effectLst>
              </a:rPr>
              <a:t>M. Tech.</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Assistant Professor</a:t>
            </a:r>
          </a:p>
        </p:txBody>
      </p:sp>
      <p:sp>
        <p:nvSpPr>
          <p:cNvPr id="7" name="Subtitle 11"/>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2024 - 2025</a:t>
            </a:r>
            <a:endParaRPr lang="en-US" sz="2500" b="0" dirty="0"/>
          </a:p>
          <a:p>
            <a:endParaRPr lang="en-IN" b="0" dirty="0"/>
          </a:p>
        </p:txBody>
      </p:sp>
      <p:sp>
        <p:nvSpPr>
          <p:cNvPr id="12" name="Subtitle 11">
            <a:extLst>
              <a:ext uri="{FF2B5EF4-FFF2-40B4-BE49-F238E27FC236}">
                <a16:creationId xmlns:a16="http://schemas.microsoft.com/office/drawing/2014/main" id="{76632DCF-444C-4AB9-A9A9-24B78326A786}"/>
              </a:ext>
            </a:extLst>
          </p:cNvPr>
          <p:cNvSpPr txBox="1">
            <a:spLocks/>
          </p:cNvSpPr>
          <p:nvPr/>
        </p:nvSpPr>
        <p:spPr>
          <a:xfrm>
            <a:off x="3574384"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 Nadeem</a:t>
            </a:r>
          </a:p>
          <a:p>
            <a:pPr>
              <a:spcBef>
                <a:spcPts val="300"/>
              </a:spcBef>
            </a:pPr>
            <a:r>
              <a:rPr lang="en-US" sz="1200" b="0" dirty="0"/>
              <a:t>Roll No. 214G1A3257</a:t>
            </a:r>
          </a:p>
        </p:txBody>
      </p:sp>
      <p:sp>
        <p:nvSpPr>
          <p:cNvPr id="13" name="Subtitle 11">
            <a:extLst>
              <a:ext uri="{FF2B5EF4-FFF2-40B4-BE49-F238E27FC236}">
                <a16:creationId xmlns:a16="http://schemas.microsoft.com/office/drawing/2014/main" id="{F3C3CADE-4DE0-4FED-8446-912E92DB0292}"/>
              </a:ext>
            </a:extLst>
          </p:cNvPr>
          <p:cNvSpPr txBox="1">
            <a:spLocks/>
          </p:cNvSpPr>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D Charan Kumar</a:t>
            </a:r>
          </a:p>
          <a:p>
            <a:pPr>
              <a:spcBef>
                <a:spcPts val="300"/>
              </a:spcBef>
            </a:pPr>
            <a:r>
              <a:rPr lang="en-US" sz="1200" b="0" dirty="0"/>
              <a:t>Roll No. 214G1A3212</a:t>
            </a:r>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1026367" y="1783000"/>
            <a:ext cx="2548017"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Y Harshavardhan</a:t>
            </a:r>
          </a:p>
          <a:p>
            <a:pPr>
              <a:spcBef>
                <a:spcPts val="300"/>
              </a:spcBef>
            </a:pPr>
            <a:r>
              <a:rPr lang="en-US" sz="1200" b="0" dirty="0"/>
              <a:t>Roll No. 224G5A3206</a:t>
            </a:r>
          </a:p>
          <a:p>
            <a:pPr>
              <a:spcBef>
                <a:spcPts val="300"/>
              </a:spcBef>
            </a:pPr>
            <a:endParaRPr lang="en-US" sz="1200" b="0" dirty="0"/>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50F0CE-B0FB-48DA-AD7D-E96A1D3BC2A8}"/>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a:extLst>
              <a:ext uri="{FF2B5EF4-FFF2-40B4-BE49-F238E27FC236}">
                <a16:creationId xmlns:a16="http://schemas.microsoft.com/office/drawing/2014/main" id="{894CA60F-9532-4FDC-90D1-528E33CD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Abstract</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Problem Statement</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Objectives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Literature Survey </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Proposed Work</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Introduction</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Existing System</a:t>
            </a:r>
          </a:p>
        </p:txBody>
      </p:sp>
    </p:spTree>
    <p:extLst>
      <p:ext uri="{BB962C8B-B14F-4D97-AF65-F5344CB8AC3E}">
        <p14:creationId xmlns:p14="http://schemas.microsoft.com/office/powerpoint/2010/main" val="53209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Proposed System</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Requirements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Data Preprocessing Techniques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a:t>References</a:t>
            </a:r>
          </a:p>
          <a:p>
            <a:pPr marL="461963" indent="-461963">
              <a:lnSpc>
                <a:spcPct val="150000"/>
              </a:lnSpc>
              <a:spcBef>
                <a:spcPts val="500"/>
              </a:spcBef>
              <a:spcAft>
                <a:spcPts val="500"/>
              </a:spcAft>
              <a:buBlip>
                <a:blip r:embed="rId2">
                  <a:extLst>
                    <a:ext uri="{96DAC541-7B7A-43D3-8B79-37D633B846F1}">
                      <asvg:svgBlip xmlns:asvg="http://schemas.microsoft.com/office/drawing/2016/SVG/main" r:embed="rId3"/>
                    </a:ext>
                  </a:extLst>
                </a:blip>
              </a:buBlip>
            </a:pPr>
            <a:r>
              <a:rPr lang="en-US" dirty="0" err="1"/>
              <a:t>Github</a:t>
            </a:r>
            <a:r>
              <a:rPr lang="en-US" dirty="0"/>
              <a:t> Link</a:t>
            </a:r>
          </a:p>
        </p:txBody>
      </p:sp>
    </p:spTree>
    <p:extLst>
      <p:ext uri="{BB962C8B-B14F-4D97-AF65-F5344CB8AC3E}">
        <p14:creationId xmlns:p14="http://schemas.microsoft.com/office/powerpoint/2010/main" val="1499314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99506" y="1097279"/>
            <a:ext cx="11340854" cy="5161631"/>
          </a:xfrm>
        </p:spPr>
        <p:txBody>
          <a:bodyPr>
            <a:noAutofit/>
          </a:bodyPr>
          <a:lstStyle/>
          <a:p>
            <a:pPr marL="457200" indent="0">
              <a:buNone/>
            </a:pPr>
            <a:r>
              <a:rPr lang="en-US" sz="2400" dirty="0"/>
              <a:t>Recent advancements in natural language generation have provided powerful tools capable of manipulating public opinion on social media platforms. Text-generative models now help people to create realistic deepfake posts using bots, influencing public conversations. This research focuses on detecting machine-generated text, specifically on platforms like Twitter. To achieve this goal, we propose a deep learning-based approach using a Convolutional Neural Network (CNN) architecture combined with </a:t>
            </a:r>
            <a:r>
              <a:rPr lang="en-US" sz="2400" dirty="0" err="1"/>
              <a:t>FastText</a:t>
            </a:r>
            <a:r>
              <a:rPr lang="en-US" sz="2400" dirty="0"/>
              <a:t> word embeddings to classify tweets as either human-generated or bot-generated. The proposed method was compared against several reports of baseline machine learning models. These baselines incorporated features such as Term Frequency (TF), Term Frequency-Inverse Document Frequency (TF-IDF), </a:t>
            </a:r>
            <a:r>
              <a:rPr lang="en-US" sz="2400" dirty="0" err="1"/>
              <a:t>FastText</a:t>
            </a:r>
            <a:r>
              <a:rPr lang="en-US" sz="2400" dirty="0"/>
              <a:t>, and </a:t>
            </a:r>
            <a:r>
              <a:rPr lang="en-US" sz="2400" dirty="0" err="1"/>
              <a:t>FastText</a:t>
            </a:r>
            <a:r>
              <a:rPr lang="en-US" sz="2400" dirty="0"/>
              <a:t> </a:t>
            </a:r>
            <a:r>
              <a:rPr lang="en-US" sz="2400" dirty="0" err="1"/>
              <a:t>subword</a:t>
            </a:r>
            <a:r>
              <a:rPr lang="en-US" sz="2400" dirty="0"/>
              <a:t> embeddings. The results of the study demonstrated the superior performance of the proposed CNN model with </a:t>
            </a:r>
            <a:r>
              <a:rPr lang="en-US" sz="2400" dirty="0" err="1"/>
              <a:t>FastText</a:t>
            </a:r>
            <a:r>
              <a:rPr lang="en-US" sz="2400" dirty="0"/>
              <a:t> embeddings, highlighting its capability to accurately detect deepfake tweets. This research highlights the value of deep learning and advanced embeddings in addressing the rising problem of machine-generated content, contributing to tools that help protect public discourse and combat misinformation online and ensuring the integrity of online interactions.</a:t>
            </a:r>
          </a:p>
          <a:p>
            <a:pPr marL="457200" indent="0">
              <a:buNone/>
            </a:pPr>
            <a:endParaRPr lang="en-US" sz="2400" dirty="0"/>
          </a:p>
        </p:txBody>
      </p:sp>
    </p:spTree>
    <p:extLst>
      <p:ext uri="{BB962C8B-B14F-4D97-AF65-F5344CB8AC3E}">
        <p14:creationId xmlns:p14="http://schemas.microsoft.com/office/powerpoint/2010/main" val="1751120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72842" y="1565676"/>
            <a:ext cx="11473091" cy="3726648"/>
          </a:xfrm>
        </p:spPr>
        <p:txBody>
          <a:bodyPr>
            <a:noAutofit/>
          </a:bodyPr>
          <a:lstStyle/>
          <a:p>
            <a:pPr marL="457200" indent="0">
              <a:lnSpc>
                <a:spcPct val="100000"/>
              </a:lnSpc>
              <a:buNone/>
            </a:pPr>
            <a:r>
              <a:rPr lang="en-US" sz="2400" dirty="0"/>
              <a:t>With the increasing prevalence of natural language generation tools capable of creating realistic machine-generated text, there is a growing threat to the integrity of public discourse on social media platforms. This includes the rise of deepfake posts generated by bots to manipulate opinions and spread misinformation. Detecting and classifying such machine-generated content remains a critical challenge. This project aims to develop an effective deep learning-based solution using a Convolutional Neural Network (CNN) architecture combined with </a:t>
            </a:r>
            <a:r>
              <a:rPr lang="en-US" sz="2400" dirty="0" err="1"/>
              <a:t>FastText</a:t>
            </a:r>
            <a:r>
              <a:rPr lang="en-US" sz="2400" dirty="0"/>
              <a:t> embeddings to accurately classify tweets as human-generated or bot-generated, thereby contributing to the fight against online misinformation and safeguarding public discussions.</a:t>
            </a:r>
          </a:p>
        </p:txBody>
      </p:sp>
    </p:spTree>
    <p:extLst>
      <p:ext uri="{BB962C8B-B14F-4D97-AF65-F5344CB8AC3E}">
        <p14:creationId xmlns:p14="http://schemas.microsoft.com/office/powerpoint/2010/main" val="1575347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endParaRPr lang="en-IN" dirty="0"/>
          </a:p>
        </p:txBody>
      </p:sp>
      <p:sp>
        <p:nvSpPr>
          <p:cNvPr id="3" name="Rectangle 1">
            <a:extLst>
              <a:ext uri="{FF2B5EF4-FFF2-40B4-BE49-F238E27FC236}">
                <a16:creationId xmlns:a16="http://schemas.microsoft.com/office/drawing/2014/main" id="{3A6C9E92-019B-8435-3B33-84774992EE2E}"/>
              </a:ext>
            </a:extLst>
          </p:cNvPr>
          <p:cNvSpPr>
            <a:spLocks noGrp="1" noChangeArrowheads="1"/>
          </p:cNvSpPr>
          <p:nvPr>
            <p:ph idx="1"/>
          </p:nvPr>
        </p:nvSpPr>
        <p:spPr bwMode="auto">
          <a:xfrm>
            <a:off x="275302" y="1154430"/>
            <a:ext cx="1144689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Develop an Effective Detection Model</a:t>
            </a:r>
            <a:r>
              <a:rPr kumimoji="0" lang="en-US" altLang="en-US" sz="2400" b="0" i="0" u="none" strike="noStrike" cap="none" normalizeH="0" baseline="0" dirty="0">
                <a:ln>
                  <a:noFill/>
                </a:ln>
                <a:solidFill>
                  <a:schemeClr val="tx1"/>
                </a:solidFill>
                <a:effectLst/>
              </a:rPr>
              <a:t>: Design and implement a CNN-based deep learning approach combined with </a:t>
            </a:r>
            <a:r>
              <a:rPr kumimoji="0" lang="en-US" altLang="en-US" sz="2400" b="0" i="0" u="none" strike="noStrike" cap="none" normalizeH="0" baseline="0" dirty="0" err="1">
                <a:ln>
                  <a:noFill/>
                </a:ln>
                <a:solidFill>
                  <a:schemeClr val="tx1"/>
                </a:solidFill>
                <a:effectLst/>
              </a:rPr>
              <a:t>FastText</a:t>
            </a:r>
            <a:r>
              <a:rPr kumimoji="0" lang="en-US" altLang="en-US" sz="2400" b="0" i="0" u="none" strike="noStrike" cap="none" normalizeH="0" baseline="0" dirty="0">
                <a:ln>
                  <a:noFill/>
                </a:ln>
                <a:solidFill>
                  <a:schemeClr val="tx1"/>
                </a:solidFill>
                <a:effectLst/>
              </a:rPr>
              <a:t> embeddings to classify tweets as human-generated or bot-generated.</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Evaluate and Optimize Performance</a:t>
            </a:r>
            <a:r>
              <a:rPr kumimoji="0" lang="en-US" altLang="en-US" sz="2400" b="0" i="0" u="none" strike="noStrike" cap="none" normalizeH="0" baseline="0" dirty="0">
                <a:ln>
                  <a:noFill/>
                </a:ln>
                <a:solidFill>
                  <a:schemeClr val="tx1"/>
                </a:solidFill>
                <a:effectLst/>
              </a:rPr>
              <a:t>: Compare the proposed model with baseline machine learning techniques, optimize its architecture, and demonstrate superior accuracy in detecting machine-generated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Safeguard Online Integrity</a:t>
            </a:r>
            <a:r>
              <a:rPr kumimoji="0" lang="en-US" altLang="en-US" sz="2400" b="0" i="0" u="none" strike="noStrike" cap="none" normalizeH="0" baseline="0" dirty="0">
                <a:ln>
                  <a:noFill/>
                </a:ln>
                <a:solidFill>
                  <a:schemeClr val="tx1"/>
                </a:solidFill>
                <a:effectLst/>
              </a:rPr>
              <a:t>: Contribute to combating misinformation and ensuring the integrity of public discourse by providing reliable tools to detect and mitigate the impact of deepfake tweets.</a:t>
            </a:r>
          </a:p>
        </p:txBody>
      </p:sp>
    </p:spTree>
    <p:extLst>
      <p:ext uri="{BB962C8B-B14F-4D97-AF65-F5344CB8AC3E}">
        <p14:creationId xmlns:p14="http://schemas.microsoft.com/office/powerpoint/2010/main" val="421635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72129-C0E4-B09F-E5FE-24B4505D7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84A3A-AA04-C9CD-EC13-006F7727D55F}"/>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F880E089-518C-BBC7-4C6B-ECD9708760A5}"/>
              </a:ext>
            </a:extLst>
          </p:cNvPr>
          <p:cNvGraphicFramePr>
            <a:graphicFrameLocks noGrp="1"/>
          </p:cNvGraphicFramePr>
          <p:nvPr>
            <p:extLst>
              <p:ext uri="{D42A27DB-BD31-4B8C-83A1-F6EECF244321}">
                <p14:modId xmlns:p14="http://schemas.microsoft.com/office/powerpoint/2010/main" val="1922283140"/>
              </p:ext>
            </p:extLst>
          </p:nvPr>
        </p:nvGraphicFramePr>
        <p:xfrm>
          <a:off x="139959" y="1087120"/>
          <a:ext cx="11644604" cy="4937760"/>
        </p:xfrm>
        <a:graphic>
          <a:graphicData uri="http://schemas.openxmlformats.org/drawingml/2006/table">
            <a:tbl>
              <a:tblPr firstRow="1" bandRow="1">
                <a:tableStyleId>{5C22544A-7EE6-4342-B048-85BDC9FD1C3A}</a:tableStyleId>
              </a:tblPr>
              <a:tblGrid>
                <a:gridCol w="531844">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1.</a:t>
                      </a:r>
                    </a:p>
                  </a:txBody>
                  <a:tcPr/>
                </a:tc>
                <a:tc>
                  <a:txBody>
                    <a:bodyPr/>
                    <a:lstStyle/>
                    <a:p>
                      <a:r>
                        <a:rPr lang="en-US" dirty="0" err="1"/>
                        <a:t>Tweepfake</a:t>
                      </a:r>
                      <a:r>
                        <a:rPr lang="en-US" dirty="0"/>
                        <a:t>: About detecting deepfake tweets</a:t>
                      </a:r>
                    </a:p>
                  </a:txBody>
                  <a:tcPr/>
                </a:tc>
                <a:tc>
                  <a:txBody>
                    <a:bodyPr/>
                    <a:lstStyle/>
                    <a:p>
                      <a:r>
                        <a:rPr lang="it-IT" dirty="0"/>
                        <a:t>Tiziano Fagni, Fabrizio Falchi, Margherita Gambini, et al.</a:t>
                      </a:r>
                      <a:endParaRPr lang="en-US" dirty="0"/>
                    </a:p>
                  </a:txBody>
                  <a:tcPr/>
                </a:tc>
                <a:tc>
                  <a:txBody>
                    <a:bodyPr/>
                    <a:lstStyle/>
                    <a:p>
                      <a:r>
                        <a:rPr lang="en-US" dirty="0"/>
                        <a:t>PLOS One, 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Applied machine learning models (e.g., BERT) to classify AI-generated tweets.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accuracy in detecting fake tweets, highlighting model potential.</a:t>
                      </a:r>
                    </a:p>
                  </a:txBody>
                  <a:tcPr/>
                </a:tc>
                <a:tc>
                  <a:txBody>
                    <a:bodyPr/>
                    <a:lstStyle/>
                    <a:p>
                      <a:r>
                        <a:rPr lang="en-US" dirty="0"/>
                        <a:t>Dataset bias due to limited diversity in tweet samples.</a:t>
                      </a:r>
                    </a:p>
                  </a:txBody>
                  <a:tcPr/>
                </a:tc>
                <a:extLst>
                  <a:ext uri="{0D108BD9-81ED-4DB2-BD59-A6C34878D82A}">
                    <a16:rowId xmlns:a16="http://schemas.microsoft.com/office/drawing/2014/main" val="3143579915"/>
                  </a:ext>
                </a:extLst>
              </a:tr>
              <a:tr h="370840">
                <a:tc>
                  <a:txBody>
                    <a:bodyPr/>
                    <a:lstStyle/>
                    <a:p>
                      <a:r>
                        <a:rPr lang="en-US" dirty="0"/>
                        <a:t>2.</a:t>
                      </a:r>
                    </a:p>
                  </a:txBody>
                  <a:tcPr/>
                </a:tc>
                <a:tc>
                  <a:txBody>
                    <a:bodyPr/>
                    <a:lstStyle/>
                    <a:p>
                      <a:r>
                        <a:rPr lang="en-US" dirty="0"/>
                        <a:t>ChatGPT or human? Detect and explain</a:t>
                      </a:r>
                    </a:p>
                  </a:txBody>
                  <a:tcPr/>
                </a:tc>
                <a:tc>
                  <a:txBody>
                    <a:bodyPr/>
                    <a:lstStyle/>
                    <a:p>
                      <a:r>
                        <a:rPr lang="en-US" dirty="0"/>
                        <a:t>Sandra </a:t>
                      </a:r>
                      <a:r>
                        <a:rPr lang="en-US" dirty="0" err="1"/>
                        <a:t>Mitrović</a:t>
                      </a:r>
                      <a:r>
                        <a:rPr lang="en-US" dirty="0"/>
                        <a:t>, Davide </a:t>
                      </a:r>
                      <a:r>
                        <a:rPr lang="en-US" dirty="0" err="1"/>
                        <a:t>Andreoletti</a:t>
                      </a:r>
                      <a:r>
                        <a:rPr lang="en-US" dirty="0"/>
                        <a:t>, </a:t>
                      </a:r>
                      <a:r>
                        <a:rPr lang="en-US" dirty="0" err="1"/>
                        <a:t>Omran</a:t>
                      </a:r>
                      <a:r>
                        <a:rPr lang="en-US" dirty="0"/>
                        <a:t> Ayoub</a:t>
                      </a:r>
                    </a:p>
                  </a:txBody>
                  <a:tcPr/>
                </a:tc>
                <a:tc>
                  <a:txBody>
                    <a:bodyPr/>
                    <a:lstStyle/>
                    <a:p>
                      <a:r>
                        <a:rPr lang="en-US" dirty="0" err="1"/>
                        <a:t>arXiv</a:t>
                      </a:r>
                      <a:r>
                        <a:rPr lang="en-US" dirty="0"/>
                        <a:t> preprint, 2023</a:t>
                      </a:r>
                    </a:p>
                  </a:txBody>
                  <a:tcPr/>
                </a:tc>
                <a:tc>
                  <a:txBody>
                    <a:bodyPr/>
                    <a:lstStyle/>
                    <a:p>
                      <a:r>
                        <a:rPr lang="en-US" dirty="0"/>
                        <a:t>Explored linguistic and stylistic patterns using transformer-based models for distinguishing ChatGPT-generated text from human text.</a:t>
                      </a:r>
                    </a:p>
                  </a:txBody>
                  <a:tcPr/>
                </a:tc>
                <a:tc>
                  <a:txBody>
                    <a:bodyPr/>
                    <a:lstStyle/>
                    <a:p>
                      <a:r>
                        <a:rPr lang="en-US" dirty="0"/>
                        <a:t>Effective in explaining why specific outputs are machine-generated.</a:t>
                      </a:r>
                    </a:p>
                  </a:txBody>
                  <a:tcPr/>
                </a:tc>
                <a:tc>
                  <a:txBody>
                    <a:bodyPr/>
                    <a:lstStyle/>
                    <a:p>
                      <a:r>
                        <a:rPr lang="en-US" dirty="0"/>
                        <a:t>Performance is model-dependent and lacks robustness to fine-tuned generative models.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10902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E5F6-AE91-04ED-DEDB-76D21E91F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71BB5-B891-7335-4781-912BD681F5F8}"/>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A662D4D1-EEBF-DD8E-FD3A-44FBC92160EC}"/>
              </a:ext>
            </a:extLst>
          </p:cNvPr>
          <p:cNvGraphicFramePr>
            <a:graphicFrameLocks noGrp="1"/>
          </p:cNvGraphicFramePr>
          <p:nvPr>
            <p:extLst>
              <p:ext uri="{D42A27DB-BD31-4B8C-83A1-F6EECF244321}">
                <p14:modId xmlns:p14="http://schemas.microsoft.com/office/powerpoint/2010/main" val="2055949858"/>
              </p:ext>
            </p:extLst>
          </p:nvPr>
        </p:nvGraphicFramePr>
        <p:xfrm>
          <a:off x="156543" y="1087120"/>
          <a:ext cx="11628020" cy="5212080"/>
        </p:xfrm>
        <a:graphic>
          <a:graphicData uri="http://schemas.openxmlformats.org/drawingml/2006/table">
            <a:tbl>
              <a:tblPr firstRow="1" bandRow="1">
                <a:tableStyleId>{5C22544A-7EE6-4342-B048-85BDC9FD1C3A}</a:tableStyleId>
              </a:tblPr>
              <a:tblGrid>
                <a:gridCol w="515260">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3.</a:t>
                      </a:r>
                    </a:p>
                  </a:txBody>
                  <a:tcPr/>
                </a:tc>
                <a:tc>
                  <a:txBody>
                    <a:bodyPr/>
                    <a:lstStyle/>
                    <a:p>
                      <a:r>
                        <a:rPr lang="en-US" dirty="0"/>
                        <a:t>Deepfake tweets classification using stacked Bi-LSTM and words embedding</a:t>
                      </a:r>
                    </a:p>
                  </a:txBody>
                  <a:tcPr/>
                </a:tc>
                <a:tc>
                  <a:txBody>
                    <a:bodyPr/>
                    <a:lstStyle/>
                    <a:p>
                      <a:r>
                        <a:rPr lang="en-US" dirty="0"/>
                        <a:t>R Vaibhav, R Furqan, A </a:t>
                      </a:r>
                      <a:r>
                        <a:rPr lang="en-US" dirty="0" err="1"/>
                        <a:t>Aashir</a:t>
                      </a:r>
                      <a:r>
                        <a:rPr lang="en-US" dirty="0"/>
                        <a:t>, PB Washington, Ernesto Lee, A Imran </a:t>
                      </a:r>
                    </a:p>
                  </a:txBody>
                  <a:tcPr/>
                </a:tc>
                <a:tc>
                  <a:txBody>
                    <a:bodyPr/>
                    <a:lstStyle/>
                    <a:p>
                      <a:r>
                        <a:rPr lang="en-US" dirty="0" err="1"/>
                        <a:t>PeerJ</a:t>
                      </a:r>
                      <a:r>
                        <a:rPr lang="en-US" dirty="0"/>
                        <a:t> </a:t>
                      </a:r>
                      <a:r>
                        <a:rPr lang="en-US" dirty="0" err="1"/>
                        <a:t>Comput</a:t>
                      </a:r>
                      <a:r>
                        <a:rPr lang="en-US" dirty="0"/>
                        <a:t>. Sci 7:e745, 2021</a:t>
                      </a:r>
                    </a:p>
                  </a:txBody>
                  <a:tcPr/>
                </a:tc>
                <a:tc>
                  <a:txBody>
                    <a:bodyPr/>
                    <a:lstStyle/>
                    <a:p>
                      <a:r>
                        <a:rPr lang="en-US" dirty="0"/>
                        <a:t>Utilized stacked Bi-LSTM architecture with word embeddings for generating contextually accurate deepfake tweets.</a:t>
                      </a:r>
                    </a:p>
                  </a:txBody>
                  <a:tcPr/>
                </a:tc>
                <a:tc>
                  <a:txBody>
                    <a:bodyPr/>
                    <a:lstStyle/>
                    <a:p>
                      <a:r>
                        <a:rPr lang="en-US" dirty="0"/>
                        <a:t>The model produced human-like tweets with low perplexity and enhanced diversity in generated content.</a:t>
                      </a:r>
                    </a:p>
                  </a:txBody>
                  <a:tcPr/>
                </a:tc>
                <a:tc>
                  <a:txBody>
                    <a:bodyPr/>
                    <a:lstStyle/>
                    <a:p>
                      <a:r>
                        <a:rPr lang="en-US" dirty="0"/>
                        <a:t>The approach struggles with sarcasm, ambiguity, ethical misuse concerns, and computational inefficiency compared to other models.</a:t>
                      </a:r>
                    </a:p>
                  </a:txBody>
                  <a:tcPr/>
                </a:tc>
                <a:extLst>
                  <a:ext uri="{0D108BD9-81ED-4DB2-BD59-A6C34878D82A}">
                    <a16:rowId xmlns:a16="http://schemas.microsoft.com/office/drawing/2014/main" val="3143579915"/>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Deepfake detection using deep learning methods: A systematic and comprehensive 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err="1"/>
                        <a:t>Heidari</a:t>
                      </a:r>
                      <a:r>
                        <a:rPr lang="en-US" dirty="0"/>
                        <a:t>, N. Jafari </a:t>
                      </a:r>
                      <a:r>
                        <a:rPr lang="en-US" dirty="0" err="1"/>
                        <a:t>Navimipour</a:t>
                      </a:r>
                      <a:r>
                        <a:rPr lang="en-US" dirty="0"/>
                        <a:t>, H. Dag, M. Unal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WIREs Data Mining and Knowledge Discovery, vol. 14, no. 2, pp. e1520,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Systematic review of deep learning-based deepfake detection approaches across various domains.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Highlighted effectiveness of CNNs, GANs, and transformers for multimedia deepfake detection.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Lacks a unified framework for practical implementation of detection methods.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758501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US" dirty="0"/>
              <a:t>Proposed Work</a:t>
            </a:r>
            <a:endParaRPr lang="en-IN" dirty="0"/>
          </a:p>
        </p:txBody>
      </p:sp>
      <p:sp>
        <p:nvSpPr>
          <p:cNvPr id="7" name="Content Placeholder 2">
            <a:extLst>
              <a:ext uri="{FF2B5EF4-FFF2-40B4-BE49-F238E27FC236}">
                <a16:creationId xmlns:a16="http://schemas.microsoft.com/office/drawing/2014/main" id="{2798DA22-7CB2-43B1-8B38-789CEC28484F}"/>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Data Collection and Preprocessing:</a:t>
            </a:r>
          </a:p>
          <a:p>
            <a:pPr marL="0" indent="0">
              <a:buNone/>
            </a:pPr>
            <a:r>
              <a:rPr lang="en-US" dirty="0"/>
              <a:t>A labeled dataset containing tweets from human and bot accounts is sourced from the </a:t>
            </a:r>
            <a:r>
              <a:rPr lang="en-US" dirty="0" err="1"/>
              <a:t>TweepFake</a:t>
            </a:r>
            <a:r>
              <a:rPr lang="en-US" dirty="0"/>
              <a:t> dataset, which consists of:</a:t>
            </a:r>
          </a:p>
          <a:p>
            <a:pPr marL="0" indent="0">
              <a:buNone/>
            </a:pPr>
            <a:r>
              <a:rPr lang="en-US" dirty="0"/>
              <a:t>25,572 tweets classified into human and bot-generated content:</a:t>
            </a:r>
          </a:p>
          <a:p>
            <a:pPr lvl="1">
              <a:buFont typeface="Arial" panose="020B0604020202020204" pitchFamily="34" charset="0"/>
              <a:buChar char="•"/>
            </a:pPr>
            <a:r>
              <a:rPr lang="en-US" dirty="0"/>
              <a:t>Humans: 17 accounts, 12,786 tweets.</a:t>
            </a:r>
          </a:p>
          <a:p>
            <a:pPr lvl="1">
              <a:buFont typeface="Arial" panose="020B0604020202020204" pitchFamily="34" charset="0"/>
              <a:buChar char="•"/>
            </a:pPr>
            <a:r>
              <a:rPr lang="en-US" dirty="0"/>
              <a:t>GPT-2: 11 accounts, 3,861 tweets.</a:t>
            </a:r>
          </a:p>
          <a:p>
            <a:pPr lvl="1">
              <a:buFont typeface="Arial" panose="020B0604020202020204" pitchFamily="34" charset="0"/>
              <a:buChar char="•"/>
            </a:pPr>
            <a:r>
              <a:rPr lang="en-US" dirty="0"/>
              <a:t>RNN: 7 accounts, 4,181 tweets.</a:t>
            </a:r>
          </a:p>
          <a:p>
            <a:pPr lvl="1">
              <a:buFont typeface="Arial" panose="020B0604020202020204" pitchFamily="34" charset="0"/>
              <a:buChar char="•"/>
            </a:pPr>
            <a:r>
              <a:rPr lang="en-US" dirty="0"/>
              <a:t>Other Bots: 5 accounts, 4,876 tweets.</a:t>
            </a:r>
          </a:p>
          <a:p>
            <a:pPr marL="0" indent="0">
              <a:buNone/>
            </a:pPr>
            <a:endParaRPr lang="en-US" dirty="0"/>
          </a:p>
          <a:p>
            <a:pPr marL="0" indent="0">
              <a:buNone/>
            </a:pPr>
            <a:r>
              <a:rPr lang="en-US" dirty="0"/>
              <a:t>The dataset is split into 80:20 ratios for training and testing.</a:t>
            </a:r>
          </a:p>
        </p:txBody>
      </p:sp>
    </p:spTree>
    <p:extLst>
      <p:ext uri="{BB962C8B-B14F-4D97-AF65-F5344CB8AC3E}">
        <p14:creationId xmlns:p14="http://schemas.microsoft.com/office/powerpoint/2010/main" val="346508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CE07-6829-5B50-4DB0-EAFDE742C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002F2-D870-8531-1F9A-BB011D7F820C}"/>
              </a:ext>
            </a:extLst>
          </p:cNvPr>
          <p:cNvSpPr>
            <a:spLocks noGrp="1"/>
          </p:cNvSpPr>
          <p:nvPr>
            <p:ph type="title"/>
          </p:nvPr>
        </p:nvSpPr>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0FE1A35A-9E34-9158-E8D5-705BFB1E4EC7}"/>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Text Vectorization Using </a:t>
            </a:r>
            <a:r>
              <a:rPr lang="en-US" b="1" dirty="0" err="1"/>
              <a:t>FastText</a:t>
            </a:r>
            <a:r>
              <a:rPr lang="en-US" b="1" dirty="0"/>
              <a:t> Word Embedding: </a:t>
            </a:r>
          </a:p>
          <a:p>
            <a:pPr marL="0" indent="0">
              <a:buNone/>
            </a:pPr>
            <a:r>
              <a:rPr lang="en-US" dirty="0"/>
              <a:t>Unlike traditional word embeddings (e.g., Word2Vec) that treat each word as a single unit, </a:t>
            </a:r>
            <a:r>
              <a:rPr lang="en-US" dirty="0" err="1"/>
              <a:t>FastText</a:t>
            </a:r>
            <a:r>
              <a:rPr lang="en-US" dirty="0"/>
              <a:t> represents words as a composition of </a:t>
            </a:r>
            <a:r>
              <a:rPr lang="en-US" dirty="0" err="1"/>
              <a:t>subword</a:t>
            </a:r>
            <a:r>
              <a:rPr lang="en-US" dirty="0"/>
              <a:t> n-grams.</a:t>
            </a:r>
          </a:p>
          <a:p>
            <a:pPr marL="0" indent="0">
              <a:buNone/>
            </a:pPr>
            <a:endParaRPr lang="en-US" sz="2000" dirty="0"/>
          </a:p>
          <a:p>
            <a:pPr lvl="1">
              <a:buFont typeface="Arial" panose="020B0604020202020204" pitchFamily="34" charset="0"/>
              <a:buChar char="•"/>
            </a:pPr>
            <a:r>
              <a:rPr lang="en-US" dirty="0"/>
              <a:t>A sentence "Deepfake detection is critical" becomes tokens [Deepfake, detection, is, critical]</a:t>
            </a:r>
          </a:p>
          <a:p>
            <a:pPr lvl="1">
              <a:buFont typeface="Arial" panose="020B0604020202020204" pitchFamily="34" charset="0"/>
              <a:buChar char="•"/>
            </a:pPr>
            <a:r>
              <a:rPr lang="en-US" dirty="0"/>
              <a:t>Each token is broken down into overlapping character n-grams (e.g., "crit" and "</a:t>
            </a:r>
            <a:r>
              <a:rPr lang="en-US" dirty="0" err="1"/>
              <a:t>ical</a:t>
            </a:r>
            <a:r>
              <a:rPr lang="en-US" dirty="0"/>
              <a:t>" from "critical")</a:t>
            </a:r>
          </a:p>
          <a:p>
            <a:pPr lvl="1">
              <a:buFont typeface="Arial" panose="020B0604020202020204" pitchFamily="34" charset="0"/>
              <a:buChar char="•"/>
            </a:pPr>
            <a:r>
              <a:rPr lang="en-US" dirty="0"/>
              <a:t>The embeddings of all </a:t>
            </a:r>
            <a:r>
              <a:rPr lang="en-US" dirty="0" err="1"/>
              <a:t>subwords</a:t>
            </a:r>
            <a:r>
              <a:rPr lang="en-US" dirty="0"/>
              <a:t> in a word are combined (e.g., averaged or summed) to create the final vector for the word.</a:t>
            </a:r>
          </a:p>
          <a:p>
            <a:pPr lvl="1">
              <a:buFont typeface="Arial" panose="020B0604020202020204" pitchFamily="34" charset="0"/>
              <a:buChar char="•"/>
            </a:pPr>
            <a:r>
              <a:rPr lang="en-US" dirty="0"/>
              <a:t>After each word in a sentence is vectorized, the embeddings are aggregated to form the final sentence-level representation.</a:t>
            </a:r>
          </a:p>
          <a:p>
            <a:pPr marL="0" indent="0">
              <a:buNone/>
            </a:pPr>
            <a:endParaRPr lang="en-US" dirty="0"/>
          </a:p>
        </p:txBody>
      </p:sp>
    </p:spTree>
    <p:extLst>
      <p:ext uri="{BB962C8B-B14F-4D97-AF65-F5344CB8AC3E}">
        <p14:creationId xmlns:p14="http://schemas.microsoft.com/office/powerpoint/2010/main" val="3010146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1A86-31A8-BB66-E05C-42CD730A0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5C5C8-1D51-B616-BA4E-F5E0F239F218}"/>
              </a:ext>
            </a:extLst>
          </p:cNvPr>
          <p:cNvSpPr>
            <a:spLocks noGrp="1"/>
          </p:cNvSpPr>
          <p:nvPr>
            <p:ph type="title"/>
          </p:nvPr>
        </p:nvSpPr>
        <p:spPr>
          <a:xfrm>
            <a:off x="0" y="223428"/>
            <a:ext cx="12192000" cy="714892"/>
          </a:xfrm>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8397AD86-05C2-EE5C-A7BD-72EE18F508DC}"/>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CNN Model Architecture:</a:t>
            </a:r>
          </a:p>
          <a:p>
            <a:pPr>
              <a:buFont typeface="Arial" panose="020B0604020202020204" pitchFamily="34" charset="0"/>
              <a:buChar char="•"/>
            </a:pPr>
            <a:r>
              <a:rPr lang="en-US" b="1" dirty="0"/>
              <a:t>Input Layer: </a:t>
            </a:r>
            <a:r>
              <a:rPr lang="en-US" dirty="0"/>
              <a:t>The vectorized tweets obtained using </a:t>
            </a:r>
            <a:r>
              <a:rPr lang="en-US" dirty="0" err="1"/>
              <a:t>FastText</a:t>
            </a:r>
            <a:r>
              <a:rPr lang="en-US" dirty="0"/>
              <a:t> word embedding.</a:t>
            </a:r>
          </a:p>
          <a:p>
            <a:pPr>
              <a:buFont typeface="Arial" panose="020B0604020202020204" pitchFamily="34" charset="0"/>
              <a:buChar char="•"/>
            </a:pPr>
            <a:r>
              <a:rPr lang="en-US" b="1" dirty="0"/>
              <a:t>Convolutional Layers: </a:t>
            </a:r>
            <a:r>
              <a:rPr lang="en-US" dirty="0"/>
              <a:t>Three layers are used. Outputs from these layers represent the patterns or relationships learned by the CNN.</a:t>
            </a:r>
          </a:p>
          <a:p>
            <a:pPr>
              <a:buFont typeface="Arial" panose="020B0604020202020204" pitchFamily="34" charset="0"/>
              <a:buChar char="•"/>
            </a:pPr>
            <a:r>
              <a:rPr lang="en-US" b="1" dirty="0"/>
              <a:t>Activation Function</a:t>
            </a:r>
            <a:r>
              <a:rPr lang="en-US" dirty="0"/>
              <a:t>: </a:t>
            </a:r>
            <a:r>
              <a:rPr lang="en-US" dirty="0" err="1"/>
              <a:t>ReLU</a:t>
            </a:r>
            <a:r>
              <a:rPr lang="en-US" dirty="0"/>
              <a:t> is used to introduce non-linearity.</a:t>
            </a:r>
          </a:p>
          <a:p>
            <a:pPr>
              <a:buFont typeface="Arial" panose="020B0604020202020204" pitchFamily="34" charset="0"/>
              <a:buChar char="•"/>
            </a:pPr>
            <a:r>
              <a:rPr lang="en-US" b="1" dirty="0"/>
              <a:t>Pooling Layers</a:t>
            </a:r>
            <a:r>
              <a:rPr lang="en-US" dirty="0"/>
              <a:t>: Max pooling is applied to prevent over fitting. </a:t>
            </a:r>
          </a:p>
          <a:p>
            <a:pPr>
              <a:buFont typeface="Arial" panose="020B0604020202020204" pitchFamily="34" charset="0"/>
              <a:buChar char="•"/>
            </a:pPr>
            <a:r>
              <a:rPr lang="en-US" b="1" dirty="0"/>
              <a:t>Flattening:</a:t>
            </a:r>
            <a:r>
              <a:rPr lang="en-US" dirty="0"/>
              <a:t> The final pooled feature maps are flattened into a 1D vector.</a:t>
            </a:r>
          </a:p>
          <a:p>
            <a:pPr>
              <a:buFont typeface="Arial" panose="020B0604020202020204" pitchFamily="34" charset="0"/>
              <a:buChar char="•"/>
            </a:pPr>
            <a:r>
              <a:rPr lang="en-US" b="1" dirty="0"/>
              <a:t>Fully Connected Layer: </a:t>
            </a:r>
            <a:r>
              <a:rPr lang="en-US" dirty="0"/>
              <a:t>Combines features, learns the optimal boundaries.</a:t>
            </a:r>
          </a:p>
          <a:p>
            <a:pPr>
              <a:buFont typeface="Arial" panose="020B0604020202020204" pitchFamily="34" charset="0"/>
              <a:buChar char="•"/>
            </a:pPr>
            <a:r>
              <a:rPr lang="en-US" b="1" dirty="0"/>
              <a:t>Output Layer:</a:t>
            </a:r>
            <a:r>
              <a:rPr lang="en-US" dirty="0"/>
              <a:t> Produce probabilities for each class </a:t>
            </a:r>
            <a:r>
              <a:rPr lang="en-US" sz="2400" dirty="0"/>
              <a:t>(e.g., human vs. bot-generated).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80698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890D-A0F5-76AA-12D0-C9416ACB9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F5660-8FD3-8984-3C76-C655394C458D}"/>
              </a:ext>
            </a:extLst>
          </p:cNvPr>
          <p:cNvSpPr>
            <a:spLocks noGrp="1"/>
          </p:cNvSpPr>
          <p:nvPr>
            <p:ph type="title"/>
          </p:nvPr>
        </p:nvSpPr>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DA9D518C-08CD-86A3-39B9-4141780F0D06}"/>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Model Training and Evaluation:</a:t>
            </a:r>
          </a:p>
          <a:p>
            <a:pPr marL="0" indent="0">
              <a:buNone/>
            </a:pPr>
            <a:r>
              <a:rPr lang="en-US" dirty="0"/>
              <a:t>The CNN model is trained using the processed and vectorized data.</a:t>
            </a:r>
          </a:p>
          <a:p>
            <a:pPr marL="0" indent="0">
              <a:buNone/>
            </a:pPr>
            <a:r>
              <a:rPr lang="en-US" dirty="0"/>
              <a:t>Evaluation metrics are used to measure model performance, which include:</a:t>
            </a:r>
          </a:p>
          <a:p>
            <a:pPr lvl="1">
              <a:buFont typeface="Arial" panose="020B0604020202020204" pitchFamily="34" charset="0"/>
              <a:buChar char="•"/>
            </a:pPr>
            <a:r>
              <a:rPr lang="en-US" dirty="0"/>
              <a:t>Accuracy</a:t>
            </a:r>
          </a:p>
          <a:p>
            <a:pPr lvl="1">
              <a:buFont typeface="Arial" panose="020B0604020202020204" pitchFamily="34" charset="0"/>
              <a:buChar char="•"/>
            </a:pPr>
            <a:r>
              <a:rPr lang="en-US" dirty="0"/>
              <a:t>Precision</a:t>
            </a:r>
          </a:p>
          <a:p>
            <a:pPr lvl="1">
              <a:buFont typeface="Arial" panose="020B0604020202020204" pitchFamily="34" charset="0"/>
              <a:buChar char="•"/>
            </a:pPr>
            <a:r>
              <a:rPr lang="en-US" dirty="0"/>
              <a:t>Recall</a:t>
            </a:r>
          </a:p>
          <a:p>
            <a:pPr lvl="1">
              <a:buFont typeface="Arial" panose="020B0604020202020204" pitchFamily="34" charset="0"/>
              <a:buChar char="•"/>
            </a:pPr>
            <a:r>
              <a:rPr lang="en-US" dirty="0"/>
              <a:t>F1-Score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4028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Introduction</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a:bodyPr>
          <a:lstStyle/>
          <a:p>
            <a:pPr marL="457200" indent="-457200">
              <a:buFont typeface="Wingdings" panose="05000000000000000000" pitchFamily="2" charset="2"/>
              <a:buChar char="Ø"/>
            </a:pPr>
            <a:r>
              <a:rPr lang="en-US" sz="2400" b="1" dirty="0"/>
              <a:t>Overview of Social Media Challenges: </a:t>
            </a:r>
            <a:r>
              <a:rPr lang="en-US" sz="2400" dirty="0"/>
              <a:t>Social media connects people but has also become a platform for misinformation, spread using bots and deepfake content like AI-generated text, audio, and videos.</a:t>
            </a:r>
          </a:p>
          <a:p>
            <a:pPr marL="457200" indent="-457200">
              <a:buFont typeface="Wingdings" panose="05000000000000000000" pitchFamily="2" charset="2"/>
              <a:buChar char="Ø"/>
            </a:pPr>
            <a:r>
              <a:rPr lang="en-US" sz="2400" b="1" dirty="0"/>
              <a:t>Emergence of Deepfake Texts: </a:t>
            </a:r>
            <a:r>
              <a:rPr lang="en-US" sz="2400" dirty="0"/>
              <a:t>Deepfake, combining "deep learning" and "fake," refers to deceptive AI-generated multimedia, raising concerns about its misuse in politics and public opinion.</a:t>
            </a:r>
          </a:p>
          <a:p>
            <a:pPr marL="457200" indent="-457200">
              <a:buFont typeface="Wingdings" panose="05000000000000000000" pitchFamily="2" charset="2"/>
              <a:buChar char="Ø"/>
            </a:pPr>
            <a:r>
              <a:rPr lang="en-US" sz="2400" b="1" dirty="0"/>
              <a:t>Role of Generative Models: </a:t>
            </a:r>
            <a:r>
              <a:rPr lang="en-US" sz="2400" dirty="0"/>
              <a:t>Advanced models like GPT-2 and GPT-3 make it difficult to differentiate human-written from machine-generated content, especially in short texts like tweets.</a:t>
            </a:r>
          </a:p>
          <a:p>
            <a:pPr marL="457200" indent="-457200">
              <a:buFont typeface="Wingdings" panose="05000000000000000000" pitchFamily="2" charset="2"/>
              <a:buChar char="Ø"/>
            </a:pPr>
            <a:r>
              <a:rPr lang="en-US" sz="2400" b="1" dirty="0"/>
              <a:t>Research Gap and Dataset: </a:t>
            </a:r>
            <a:r>
              <a:rPr lang="en-US" sz="2400" dirty="0"/>
              <a:t>While deepfake detection in long text is studied, detecting bot-generated tweets is less explored. The </a:t>
            </a:r>
            <a:r>
              <a:rPr lang="en-US" sz="2400" dirty="0" err="1"/>
              <a:t>Tweepfake</a:t>
            </a:r>
            <a:r>
              <a:rPr lang="en-US" sz="2400" dirty="0"/>
              <a:t> dataset provides human and bot-generated tweets for this study.</a:t>
            </a:r>
          </a:p>
          <a:p>
            <a:pPr marL="457200" indent="-457200">
              <a:buFont typeface="Wingdings" panose="05000000000000000000" pitchFamily="2" charset="2"/>
              <a:buChar char="Ø"/>
            </a:pPr>
            <a:r>
              <a:rPr lang="en-US" sz="2400" b="1" dirty="0"/>
              <a:t>The Approach: </a:t>
            </a:r>
            <a:r>
              <a:rPr lang="en-US" sz="2400" dirty="0"/>
              <a:t>This project uses a CNN with </a:t>
            </a:r>
            <a:r>
              <a:rPr lang="en-US" sz="2400" dirty="0" err="1"/>
              <a:t>FastText</a:t>
            </a:r>
            <a:r>
              <a:rPr lang="en-US" sz="2400" dirty="0"/>
              <a:t> embeddings to reliably classify tweets as human- or bot-generated, addressing the deepfake detection challenge.</a:t>
            </a:r>
          </a:p>
        </p:txBody>
      </p:sp>
    </p:spTree>
    <p:extLst>
      <p:ext uri="{BB962C8B-B14F-4D97-AF65-F5344CB8AC3E}">
        <p14:creationId xmlns:p14="http://schemas.microsoft.com/office/powerpoint/2010/main" val="31678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Existing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lnSpcReduction="10000"/>
          </a:bodyPr>
          <a:lstStyle/>
          <a:p>
            <a:pPr marL="311760" indent="0" algn="just">
              <a:lnSpc>
                <a:spcPct val="100000"/>
              </a:lnSpc>
              <a:buNone/>
            </a:pPr>
            <a:r>
              <a:rPr lang="en-US" sz="2400" b="0" strike="noStrike" spc="-1" dirty="0">
                <a:solidFill>
                  <a:srgbClr val="000000"/>
                </a:solidFill>
                <a:latin typeface="Times New Roman"/>
                <a:ea typeface="Calibri"/>
              </a:rPr>
              <a:t>Existing research in deepfake text detection primarily utilizes graph-based and feature-based machine learning approaches, providing insights into the creation and detection of deepfakes. However, these methods focus on longer texts like news stories, raising concerns about their applicability to shorter social media texts. The existing system uses a stacked Bi-LSTM architecture with word embeddings to generate realistic deepfake tweets by capturing contextual relationships and semantic meanings. While effective in producing coherent tweets, it struggles with nuanced patterns like sarcasm or ambiguity, requires high computational resources, and lacks scalability for real-time applications.</a:t>
            </a:r>
          </a:p>
          <a:p>
            <a:pPr marL="311760" indent="0" algn="just">
              <a:lnSpc>
                <a:spcPct val="100000"/>
              </a:lnSpc>
              <a:buNone/>
            </a:pPr>
            <a:r>
              <a:rPr lang="en-US" sz="2400" b="1" spc="-1" dirty="0">
                <a:solidFill>
                  <a:srgbClr val="000000"/>
                </a:solidFill>
                <a:latin typeface="Times New Roman"/>
                <a:ea typeface="Calibri"/>
              </a:rPr>
              <a:t>Disadvantages: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Inability to handle sarcasm and ambiguous tweets effectively.</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Poor adaptability to linguistic diversity and cultural variations.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Computational inefficiency, requiring high resources for training and inference.</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Limited capability in detecting and analyzing machine-generated tweets.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Scalability issues, making it unsuitable for large-scale or real-time implementations.</a:t>
            </a:r>
          </a:p>
          <a:p>
            <a:pPr marL="311760" indent="0" algn="just">
              <a:lnSpc>
                <a:spcPct val="100000"/>
              </a:lnSpc>
              <a:buNone/>
            </a:pPr>
            <a:endParaRPr lang="en-US" sz="2400" spc="-1" dirty="0">
              <a:solidFill>
                <a:srgbClr val="000000"/>
              </a:solidFill>
              <a:latin typeface="Times New Roman"/>
              <a:ea typeface="Calibri"/>
            </a:endParaRPr>
          </a:p>
        </p:txBody>
      </p:sp>
    </p:spTree>
    <p:extLst>
      <p:ext uri="{BB962C8B-B14F-4D97-AF65-F5344CB8AC3E}">
        <p14:creationId xmlns:p14="http://schemas.microsoft.com/office/powerpoint/2010/main" val="598757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Proposed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fontScale="92500"/>
          </a:bodyPr>
          <a:lstStyle/>
          <a:p>
            <a:pPr marL="311760" indent="0" algn="just">
              <a:lnSpc>
                <a:spcPct val="100000"/>
              </a:lnSpc>
              <a:buNone/>
            </a:pPr>
            <a:r>
              <a:rPr lang="en-US" sz="2600" b="0" strike="noStrike" spc="-1" dirty="0">
                <a:solidFill>
                  <a:srgbClr val="000000"/>
                </a:solidFill>
                <a:latin typeface="Times New Roman"/>
                <a:ea typeface="Calibri"/>
              </a:rPr>
              <a:t>The proposed system leverages deep learning models with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for identifying machine-generated tweets on social media.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capture </a:t>
            </a:r>
            <a:r>
              <a:rPr lang="en-US" sz="2600" b="0" strike="noStrike" spc="-1" dirty="0" err="1">
                <a:solidFill>
                  <a:srgbClr val="000000"/>
                </a:solidFill>
                <a:latin typeface="Times New Roman"/>
                <a:ea typeface="Calibri"/>
              </a:rPr>
              <a:t>subword</a:t>
            </a:r>
            <a:r>
              <a:rPr lang="en-US" sz="2600" b="0" strike="noStrike" spc="-1" dirty="0">
                <a:solidFill>
                  <a:srgbClr val="000000"/>
                </a:solidFill>
                <a:latin typeface="Times New Roman"/>
                <a:ea typeface="Calibri"/>
              </a:rPr>
              <a:t>-level information, improving handling of sarcasm, ambiguity, and rare words while ensuring adaptability to diverse linguistic contexts. Optimized architectures enhance computational efficiency and scalability, making the system suitable for real-time analysis. This approach combines robust feature extraction with advanced deep learning techniques, addressing the limitations of the existing system.</a:t>
            </a:r>
          </a:p>
          <a:p>
            <a:pPr marL="311760" indent="0" algn="just">
              <a:lnSpc>
                <a:spcPct val="100000"/>
              </a:lnSpc>
              <a:buNone/>
            </a:pPr>
            <a:r>
              <a:rPr lang="en-US" sz="2600" b="1" spc="-1" dirty="0">
                <a:solidFill>
                  <a:srgbClr val="000000"/>
                </a:solidFill>
                <a:latin typeface="Times New Roman"/>
                <a:ea typeface="Calibri"/>
              </a:rPr>
              <a:t>Advantages: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Sarcasm and Ambiguity: </a:t>
            </a:r>
            <a:r>
              <a:rPr lang="en-US" sz="2100" strike="noStrike" spc="-1" dirty="0" err="1">
                <a:solidFill>
                  <a:srgbClr val="000000"/>
                </a:solidFill>
                <a:latin typeface="Times New Roman"/>
                <a:ea typeface="Calibri"/>
              </a:rPr>
              <a:t>FastText’s</a:t>
            </a:r>
            <a:r>
              <a:rPr lang="en-US" sz="2100" strike="noStrike" spc="-1" dirty="0">
                <a:solidFill>
                  <a:srgbClr val="000000"/>
                </a:solidFill>
                <a:latin typeface="Times New Roman"/>
                <a:ea typeface="Calibri"/>
              </a:rPr>
              <a:t> </a:t>
            </a:r>
            <a:r>
              <a:rPr lang="en-US" sz="2100" strike="noStrike" spc="-1" dirty="0" err="1">
                <a:solidFill>
                  <a:srgbClr val="000000"/>
                </a:solidFill>
                <a:latin typeface="Times New Roman"/>
                <a:ea typeface="Calibri"/>
              </a:rPr>
              <a:t>subword</a:t>
            </a:r>
            <a:r>
              <a:rPr lang="en-US" sz="2100" strike="noStrike" spc="-1" dirty="0">
                <a:solidFill>
                  <a:srgbClr val="000000"/>
                </a:solidFill>
                <a:latin typeface="Times New Roman"/>
                <a:ea typeface="Calibri"/>
              </a:rPr>
              <a:t>-level representation improves handling of language patterns.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Linguistic Diversity: Adaptability to various languages and cultural contexts through </a:t>
            </a:r>
            <a:r>
              <a:rPr lang="en-US" sz="2100" strike="noStrike" spc="-1" dirty="0" err="1">
                <a:solidFill>
                  <a:srgbClr val="000000"/>
                </a:solidFill>
                <a:latin typeface="Times New Roman"/>
                <a:ea typeface="Calibri"/>
              </a:rPr>
              <a:t>FastText</a:t>
            </a:r>
            <a:r>
              <a:rPr lang="en-US" sz="2100" strike="noStrike" spc="-1" dirty="0">
                <a:solidFill>
                  <a:srgbClr val="000000"/>
                </a:solidFill>
                <a:latin typeface="Times New Roman"/>
                <a:ea typeface="Calibri"/>
              </a:rPr>
              <a:t> embeddings.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Computational Efficiency: Reduced resource consumption due to optimized deep learning models.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Detection Capability: Focused design on identifying machine-generated tweets enhances accuracy.</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Scalability: Improved scalability for large-scale and real-time applications through efficient architectures.</a:t>
            </a:r>
          </a:p>
        </p:txBody>
      </p:sp>
    </p:spTree>
    <p:extLst>
      <p:ext uri="{BB962C8B-B14F-4D97-AF65-F5344CB8AC3E}">
        <p14:creationId xmlns:p14="http://schemas.microsoft.com/office/powerpoint/2010/main" val="3455780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62598158"/>
              </p:ext>
            </p:extLst>
          </p:nvPr>
        </p:nvGraphicFramePr>
        <p:xfrm>
          <a:off x="206373" y="1542191"/>
          <a:ext cx="11779250" cy="3773617"/>
        </p:xfrm>
        <a:graphic>
          <a:graphicData uri="http://schemas.openxmlformats.org/drawingml/2006/table">
            <a:tbl>
              <a:tblPr firstRow="1" bandRow="1">
                <a:tableStyleId>{5C22544A-7EE6-4342-B048-85BDC9FD1C3A}</a:tableStyleId>
              </a:tblPr>
              <a:tblGrid>
                <a:gridCol w="5869699">
                  <a:extLst>
                    <a:ext uri="{9D8B030D-6E8A-4147-A177-3AD203B41FA5}">
                      <a16:colId xmlns:a16="http://schemas.microsoft.com/office/drawing/2014/main" val="20000"/>
                    </a:ext>
                  </a:extLst>
                </a:gridCol>
                <a:gridCol w="5909551">
                  <a:extLst>
                    <a:ext uri="{9D8B030D-6E8A-4147-A177-3AD203B41FA5}">
                      <a16:colId xmlns:a16="http://schemas.microsoft.com/office/drawing/2014/main" val="20001"/>
                    </a:ext>
                  </a:extLst>
                </a:gridCol>
              </a:tblGrid>
              <a:tr h="563729">
                <a:tc>
                  <a:txBody>
                    <a:bodyPr/>
                    <a:lstStyle/>
                    <a:p>
                      <a:pPr algn="ctr"/>
                      <a:r>
                        <a:rPr lang="en-IN" sz="2400" dirty="0">
                          <a:latin typeface="Times New Roman" panose="02020603050405020304" pitchFamily="18" charset="0"/>
                          <a:cs typeface="Times New Roman" panose="02020603050405020304" pitchFamily="18" charset="0"/>
                        </a:rPr>
                        <a:t>Functional</a:t>
                      </a:r>
                    </a:p>
                  </a:txBody>
                  <a:tcPr/>
                </a:tc>
                <a:tc>
                  <a:txBody>
                    <a:bodyPr/>
                    <a:lstStyle/>
                    <a:p>
                      <a:pPr algn="ctr"/>
                      <a:r>
                        <a:rPr lang="en-IN" sz="2400" dirty="0">
                          <a:latin typeface="Times New Roman" panose="02020603050405020304" pitchFamily="18" charset="0"/>
                          <a:cs typeface="Times New Roman" panose="02020603050405020304" pitchFamily="18" charset="0"/>
                        </a:rPr>
                        <a:t>Non-Functional</a:t>
                      </a:r>
                    </a:p>
                  </a:txBody>
                  <a:tcPr/>
                </a:tc>
                <a:extLst>
                  <a:ext uri="{0D108BD9-81ED-4DB2-BD59-A6C34878D82A}">
                    <a16:rowId xmlns:a16="http://schemas.microsoft.com/office/drawing/2014/main" val="10000"/>
                  </a:ext>
                </a:extLst>
              </a:tr>
              <a:tr h="3209888">
                <a:tc>
                  <a:txBody>
                    <a:bodyPr/>
                    <a:lstStyle/>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Sarcasm and Ambiguity</a:t>
                      </a: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Linguistic Diversity</a:t>
                      </a:r>
                      <a:endParaRPr lang="en-IN" sz="2400" b="0" strike="noStrike" spc="-1" dirty="0">
                        <a:solidFill>
                          <a:srgbClr val="000000"/>
                        </a:solidFill>
                        <a:latin typeface="Times New Roman" panose="02020603050405020304" pitchFamily="18" charset="0"/>
                        <a:ea typeface="+mn-ea"/>
                        <a:cs typeface="Times New Roman" panose="02020603050405020304" pitchFamily="18" charset="0"/>
                      </a:endParaRP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ea typeface="+mn-ea"/>
                          <a:cs typeface="Times New Roman" panose="02020603050405020304" pitchFamily="18" charset="0"/>
                        </a:rPr>
                        <a:t>Computational Efficiency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Detection Capability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Predicting</a:t>
                      </a:r>
                      <a:endParaRPr lang="en-IN" sz="2400" dirty="0">
                        <a:latin typeface="Times New Roman" panose="02020603050405020304" pitchFamily="18" charset="0"/>
                        <a:cs typeface="Times New Roman" panose="02020603050405020304" pitchFamily="18" charset="0"/>
                      </a:endParaRPr>
                    </a:p>
                  </a:txBody>
                  <a:tcPr/>
                </a:tc>
                <a:tc>
                  <a:txBody>
                    <a:bodyPr/>
                    <a:lstStyle/>
                    <a:p>
                      <a:pPr marL="685800" indent="-457200" algn="l">
                        <a:lnSpc>
                          <a:spcPct val="10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Performance</a:t>
                      </a:r>
                      <a:endParaRPr lang="en-IN" sz="24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Scalability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Reliability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Security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Maintainability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a:xfrm>
            <a:off x="0" y="232759"/>
            <a:ext cx="12192000" cy="714892"/>
          </a:xfrm>
        </p:spPr>
        <p:txBody>
          <a:bodyPr/>
          <a:lstStyle/>
          <a:p>
            <a:r>
              <a:rPr lang="en-US" dirty="0"/>
              <a:t>Data Preprocessing Techniques</a:t>
            </a:r>
            <a:endParaRPr lang="en-IN" dirty="0"/>
          </a:p>
        </p:txBody>
      </p:sp>
      <p:sp>
        <p:nvSpPr>
          <p:cNvPr id="10" name="Content Placeholder 9">
            <a:extLst>
              <a:ext uri="{FF2B5EF4-FFF2-40B4-BE49-F238E27FC236}">
                <a16:creationId xmlns:a16="http://schemas.microsoft.com/office/drawing/2014/main" id="{870CE816-5837-6F85-94CE-E385204DE7C8}"/>
              </a:ext>
            </a:extLst>
          </p:cNvPr>
          <p:cNvSpPr>
            <a:spLocks noGrp="1"/>
          </p:cNvSpPr>
          <p:nvPr>
            <p:ph idx="1"/>
          </p:nvPr>
        </p:nvSpPr>
        <p:spPr>
          <a:xfrm>
            <a:off x="195943" y="1287625"/>
            <a:ext cx="11782697" cy="5204614"/>
          </a:xfrm>
        </p:spPr>
        <p:txBody>
          <a:bodyPr>
            <a:normAutofit/>
          </a:bodyPr>
          <a:lstStyle/>
          <a:p>
            <a:r>
              <a:rPr lang="en-IN" sz="2400" b="1" dirty="0"/>
              <a:t>Tokenization: </a:t>
            </a:r>
            <a:r>
              <a:rPr lang="en-US" sz="2400" dirty="0"/>
              <a:t>Split the text into individual words or tokens (e.g., "The cat sat" becomes ["the", "cat", "sat"]), For </a:t>
            </a:r>
            <a:r>
              <a:rPr lang="en-US" sz="2400" dirty="0" err="1"/>
              <a:t>FastText</a:t>
            </a:r>
            <a:r>
              <a:rPr lang="en-US" sz="2400" dirty="0"/>
              <a:t>, tokens are used to create word embeddings.</a:t>
            </a:r>
          </a:p>
          <a:p>
            <a:pPr marL="0" indent="0">
              <a:buNone/>
            </a:pPr>
            <a:endParaRPr lang="en-US" sz="2400" dirty="0"/>
          </a:p>
          <a:p>
            <a:r>
              <a:rPr lang="en-US" sz="2400" b="1" dirty="0" err="1"/>
              <a:t>Subword</a:t>
            </a:r>
            <a:r>
              <a:rPr lang="en-US" sz="2400" b="1" dirty="0"/>
              <a:t> Processing (Specific to </a:t>
            </a:r>
            <a:r>
              <a:rPr lang="en-US" sz="2400" b="1" dirty="0" err="1"/>
              <a:t>FastText</a:t>
            </a:r>
            <a:r>
              <a:rPr lang="en-US" sz="2400" b="1" dirty="0"/>
              <a:t>):</a:t>
            </a:r>
            <a:r>
              <a:rPr lang="en-US" sz="2400" dirty="0"/>
              <a:t> Break down words into </a:t>
            </a:r>
            <a:r>
              <a:rPr lang="en-US" sz="2400" dirty="0" err="1"/>
              <a:t>subwords</a:t>
            </a:r>
            <a:r>
              <a:rPr lang="en-US" sz="2400" dirty="0"/>
              <a:t> or n-grams (e.g., "running" might be represented as ["run", "</a:t>
            </a:r>
            <a:r>
              <a:rPr lang="en-US" sz="2400" dirty="0" err="1"/>
              <a:t>unn</a:t>
            </a:r>
            <a:r>
              <a:rPr lang="en-US" sz="2400" dirty="0"/>
              <a:t>", "</a:t>
            </a:r>
            <a:r>
              <a:rPr lang="en-US" sz="2400" dirty="0" err="1"/>
              <a:t>nni</a:t>
            </a:r>
            <a:r>
              <a:rPr lang="en-US" sz="2400" dirty="0"/>
              <a:t>", "</a:t>
            </a:r>
            <a:r>
              <a:rPr lang="en-US" sz="2400" dirty="0" err="1"/>
              <a:t>ing</a:t>
            </a:r>
            <a:r>
              <a:rPr lang="en-US" sz="2400" dirty="0"/>
              <a:t>"]) to handle rare and unseen words.</a:t>
            </a:r>
          </a:p>
          <a:p>
            <a:pPr marL="0" indent="0">
              <a:buNone/>
            </a:pPr>
            <a:endParaRPr lang="en-US" sz="2400" dirty="0"/>
          </a:p>
          <a:p>
            <a:r>
              <a:rPr lang="en-IN" sz="2400" b="1" dirty="0"/>
              <a:t>Stemming and Lemmatization</a:t>
            </a:r>
            <a:r>
              <a:rPr lang="en-US" sz="2400" b="1" dirty="0"/>
              <a:t>:</a:t>
            </a:r>
          </a:p>
          <a:p>
            <a:pPr lvl="1">
              <a:buFont typeface="Arial" panose="020B0604020202020204" pitchFamily="34" charset="0"/>
              <a:buChar char="•"/>
            </a:pPr>
            <a:r>
              <a:rPr lang="en-US" sz="2000" b="1" dirty="0"/>
              <a:t>Stemming</a:t>
            </a:r>
            <a:r>
              <a:rPr lang="en-US" sz="2000" dirty="0"/>
              <a:t>: Reduce words to their root form (e.g., "running" → "run").</a:t>
            </a:r>
          </a:p>
          <a:p>
            <a:pPr lvl="1">
              <a:buFont typeface="Arial" panose="020B0604020202020204" pitchFamily="34" charset="0"/>
              <a:buChar char="•"/>
            </a:pPr>
            <a:r>
              <a:rPr lang="en-US" sz="2000" b="1" dirty="0"/>
              <a:t>Lemmatization</a:t>
            </a:r>
            <a:r>
              <a:rPr lang="en-US" sz="2000" dirty="0"/>
              <a:t>: Map words to their base or dictionary form, considering context (e.g., "better" → "good").</a:t>
            </a:r>
          </a:p>
          <a:p>
            <a:pPr marL="0" indent="0">
              <a:buNone/>
            </a:pPr>
            <a:endParaRPr lang="en-US" sz="2400" dirty="0"/>
          </a:p>
          <a:p>
            <a:pPr marL="0" indent="0">
              <a:buNone/>
            </a:pPr>
            <a:endParaRPr lang="en-US" sz="2400" dirty="0"/>
          </a:p>
          <a:p>
            <a:pPr marL="0" indent="0">
              <a:buNone/>
            </a:pPr>
            <a:endParaRPr lang="en-US" sz="2400" dirty="0"/>
          </a:p>
          <a:p>
            <a:endParaRPr lang="en-IN" dirty="0"/>
          </a:p>
        </p:txBody>
      </p:sp>
    </p:spTree>
    <p:extLst>
      <p:ext uri="{BB962C8B-B14F-4D97-AF65-F5344CB8AC3E}">
        <p14:creationId xmlns:p14="http://schemas.microsoft.com/office/powerpoint/2010/main" val="2767380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a:xfrm>
            <a:off x="0" y="232759"/>
            <a:ext cx="12192000" cy="714892"/>
          </a:xfrm>
        </p:spPr>
        <p:txBody>
          <a:bodyPr/>
          <a:lstStyle/>
          <a:p>
            <a:r>
              <a:rPr lang="en-US" dirty="0"/>
              <a:t>Data Preprocessing Techniques</a:t>
            </a:r>
            <a:endParaRPr lang="en-IN" dirty="0"/>
          </a:p>
        </p:txBody>
      </p:sp>
      <p:sp>
        <p:nvSpPr>
          <p:cNvPr id="10" name="Content Placeholder 9">
            <a:extLst>
              <a:ext uri="{FF2B5EF4-FFF2-40B4-BE49-F238E27FC236}">
                <a16:creationId xmlns:a16="http://schemas.microsoft.com/office/drawing/2014/main" id="{870CE816-5837-6F85-94CE-E385204DE7C8}"/>
              </a:ext>
            </a:extLst>
          </p:cNvPr>
          <p:cNvSpPr>
            <a:spLocks noGrp="1"/>
          </p:cNvSpPr>
          <p:nvPr>
            <p:ph idx="1"/>
          </p:nvPr>
        </p:nvSpPr>
        <p:spPr>
          <a:xfrm>
            <a:off x="149291" y="947651"/>
            <a:ext cx="11829350" cy="5544588"/>
          </a:xfrm>
        </p:spPr>
        <p:txBody>
          <a:bodyPr>
            <a:normAutofit/>
          </a:bodyPr>
          <a:lstStyle/>
          <a:p>
            <a:pPr marL="0" indent="0">
              <a:buNone/>
            </a:pPr>
            <a:r>
              <a:rPr lang="en-US" sz="2400" b="1" dirty="0"/>
              <a:t> </a:t>
            </a:r>
          </a:p>
          <a:p>
            <a:r>
              <a:rPr lang="en-IN" sz="2400" b="1" dirty="0"/>
              <a:t>Vectorization :</a:t>
            </a:r>
            <a:endParaRPr lang="en-US" sz="2400" b="1" dirty="0"/>
          </a:p>
          <a:p>
            <a:pPr lvl="1">
              <a:buFont typeface="Arial" panose="020B0604020202020204" pitchFamily="34" charset="0"/>
              <a:buChar char="•"/>
            </a:pPr>
            <a:r>
              <a:rPr lang="en-US" sz="2000" b="1" dirty="0"/>
              <a:t>TF/TF-IDF Vectorization</a:t>
            </a:r>
            <a:r>
              <a:rPr lang="en-US" sz="2000" dirty="0"/>
              <a:t>: Convert text into numerical feature vectors based on word frequency (for baseline models).</a:t>
            </a:r>
          </a:p>
          <a:p>
            <a:pPr lvl="1">
              <a:buFont typeface="Arial" panose="020B0604020202020204" pitchFamily="34" charset="0"/>
              <a:buChar char="•"/>
            </a:pPr>
            <a:r>
              <a:rPr lang="en-US" sz="2000" b="1" dirty="0" err="1"/>
              <a:t>FastText</a:t>
            </a:r>
            <a:r>
              <a:rPr lang="en-US" sz="2000" b="1" dirty="0"/>
              <a:t> Embeddings</a:t>
            </a:r>
            <a:r>
              <a:rPr lang="en-US" sz="2000" dirty="0"/>
              <a:t>: Generate dense numerical vectors for words or </a:t>
            </a:r>
            <a:r>
              <a:rPr lang="en-US" sz="2000" dirty="0" err="1"/>
              <a:t>subwords</a:t>
            </a:r>
            <a:r>
              <a:rPr lang="en-US" sz="2000" dirty="0"/>
              <a:t> using the </a:t>
            </a:r>
            <a:r>
              <a:rPr lang="en-US" sz="2000" dirty="0" err="1"/>
              <a:t>FastText</a:t>
            </a:r>
            <a:r>
              <a:rPr lang="en-US" sz="2000" dirty="0"/>
              <a:t> library.</a:t>
            </a:r>
          </a:p>
          <a:p>
            <a:pPr marL="0" indent="0">
              <a:buNone/>
            </a:pPr>
            <a:endParaRPr lang="en-US" sz="2400" dirty="0"/>
          </a:p>
          <a:p>
            <a:r>
              <a:rPr lang="en-IN" sz="2400" b="1" dirty="0"/>
              <a:t>Encoding Labels</a:t>
            </a:r>
            <a:r>
              <a:rPr lang="en-US" sz="2400" b="1" dirty="0"/>
              <a:t>: </a:t>
            </a:r>
            <a:r>
              <a:rPr lang="en-US" sz="2400" dirty="0"/>
              <a:t>Encode tweet labels (e.g., "human-generated" or "bot-generated") into numerical values (e.g., 0 and 1) for binary classification.</a:t>
            </a:r>
          </a:p>
          <a:p>
            <a:pPr marL="0" indent="0">
              <a:buNone/>
            </a:pPr>
            <a:endParaRPr lang="en-US" sz="2400" dirty="0"/>
          </a:p>
          <a:p>
            <a:r>
              <a:rPr lang="en-IN" sz="2400" b="1" dirty="0"/>
              <a:t>Batch Processing</a:t>
            </a:r>
            <a:r>
              <a:rPr lang="en-US" sz="2400" b="1" dirty="0"/>
              <a:t>: </a:t>
            </a:r>
            <a:r>
              <a:rPr lang="en-US" sz="2400" dirty="0"/>
              <a:t>Divide the dataset into mini-batches for efficient training and evaluation in the CNN model.</a:t>
            </a:r>
          </a:p>
          <a:p>
            <a:pPr marL="0" indent="0">
              <a:buNone/>
            </a:pPr>
            <a:endParaRPr lang="en-US" sz="2400" dirty="0"/>
          </a:p>
          <a:p>
            <a:pPr marL="0" indent="0">
              <a:buNone/>
            </a:pPr>
            <a:endParaRPr lang="en-US" sz="2400" dirty="0"/>
          </a:p>
          <a:p>
            <a:endParaRPr lang="en-IN" sz="2400" dirty="0"/>
          </a:p>
        </p:txBody>
      </p:sp>
    </p:spTree>
    <p:extLst>
      <p:ext uri="{BB962C8B-B14F-4D97-AF65-F5344CB8AC3E}">
        <p14:creationId xmlns:p14="http://schemas.microsoft.com/office/powerpoint/2010/main" val="3275205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2DF63-6395-A466-9503-543F536E2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B079D-EC46-7F3F-2E19-E343256B1F99}"/>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F0D5A275-ACE9-7296-4EF6-699F6E781676}"/>
              </a:ext>
            </a:extLst>
          </p:cNvPr>
          <p:cNvSpPr>
            <a:spLocks noGrp="1"/>
          </p:cNvSpPr>
          <p:nvPr>
            <p:ph idx="1"/>
          </p:nvPr>
        </p:nvSpPr>
        <p:spPr>
          <a:xfrm>
            <a:off x="149291" y="1168399"/>
            <a:ext cx="11829350" cy="5323839"/>
          </a:xfrm>
        </p:spPr>
        <p:txBody>
          <a:bodyPr>
            <a:normAutofit/>
          </a:bodyPr>
          <a:lstStyle/>
          <a:p>
            <a:pPr marL="0" indent="0">
              <a:buNone/>
            </a:pPr>
            <a:r>
              <a:rPr lang="en-US" sz="2400" b="1" dirty="0"/>
              <a:t> Flow Diagram</a:t>
            </a:r>
            <a:endParaRPr lang="en-US" sz="2400" dirty="0"/>
          </a:p>
          <a:p>
            <a:pPr marL="0" indent="0">
              <a:buNone/>
            </a:pPr>
            <a:endParaRPr lang="en-US" sz="2400" dirty="0"/>
          </a:p>
          <a:p>
            <a:endParaRPr lang="en-IN" sz="2400" dirty="0"/>
          </a:p>
        </p:txBody>
      </p:sp>
      <p:pic>
        <p:nvPicPr>
          <p:cNvPr id="6" name="Picture 5" descr="A diagram of a flowchart&#10;&#10;AI-generated content may be incorrect.">
            <a:extLst>
              <a:ext uri="{FF2B5EF4-FFF2-40B4-BE49-F238E27FC236}">
                <a16:creationId xmlns:a16="http://schemas.microsoft.com/office/drawing/2014/main" id="{0462E083-1C96-FFE9-0AF1-D2DA8F27D57B}"/>
              </a:ext>
            </a:extLst>
          </p:cNvPr>
          <p:cNvPicPr>
            <a:picLocks noChangeAspect="1"/>
          </p:cNvPicPr>
          <p:nvPr/>
        </p:nvPicPr>
        <p:blipFill>
          <a:blip r:embed="rId2" cstate="print">
            <a:extLst>
              <a:ext uri="{28A0092B-C50C-407E-A947-70E740481C1C}">
                <a14:useLocalDpi xmlns:a14="http://schemas.microsoft.com/office/drawing/2010/main" val="0"/>
              </a:ext>
            </a:extLst>
          </a:blip>
          <a:srcRect l="13495" t="5334" r="4633" b="8436"/>
          <a:stretch/>
        </p:blipFill>
        <p:spPr>
          <a:xfrm>
            <a:off x="3243689" y="1168399"/>
            <a:ext cx="4964326" cy="5323839"/>
          </a:xfrm>
          <a:prstGeom prst="rect">
            <a:avLst/>
          </a:prstGeom>
        </p:spPr>
      </p:pic>
    </p:spTree>
    <p:extLst>
      <p:ext uri="{BB962C8B-B14F-4D97-AF65-F5344CB8AC3E}">
        <p14:creationId xmlns:p14="http://schemas.microsoft.com/office/powerpoint/2010/main" val="57163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FC22D-7AAA-2AA0-1C05-E262BAC60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43DB6-EA62-7F54-0A08-351D7D95823D}"/>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8B575FE7-97A9-2116-D2B8-CC2CCD03A8AA}"/>
              </a:ext>
            </a:extLst>
          </p:cNvPr>
          <p:cNvSpPr>
            <a:spLocks noGrp="1"/>
          </p:cNvSpPr>
          <p:nvPr>
            <p:ph idx="1"/>
          </p:nvPr>
        </p:nvSpPr>
        <p:spPr>
          <a:xfrm>
            <a:off x="149291" y="1168399"/>
            <a:ext cx="11829350" cy="5323839"/>
          </a:xfrm>
        </p:spPr>
        <p:txBody>
          <a:bodyPr>
            <a:normAutofit/>
          </a:bodyPr>
          <a:lstStyle/>
          <a:p>
            <a:pPr marL="0" indent="0">
              <a:buNone/>
            </a:pPr>
            <a:r>
              <a:rPr lang="en-US" sz="2400" b="1" dirty="0"/>
              <a:t> File Structure</a:t>
            </a:r>
            <a:endParaRPr lang="en-US" sz="2400" dirty="0"/>
          </a:p>
          <a:p>
            <a:pPr marL="0" indent="0">
              <a:buNone/>
            </a:pPr>
            <a:endParaRPr lang="en-US" sz="2400" dirty="0"/>
          </a:p>
          <a:p>
            <a:endParaRPr lang="en-IN" sz="2400" dirty="0"/>
          </a:p>
        </p:txBody>
      </p:sp>
      <p:pic>
        <p:nvPicPr>
          <p:cNvPr id="4" name="Picture 3" descr="A screen shot of a computer program&#10;&#10;AI-generated content may be incorrect.">
            <a:extLst>
              <a:ext uri="{FF2B5EF4-FFF2-40B4-BE49-F238E27FC236}">
                <a16:creationId xmlns:a16="http://schemas.microsoft.com/office/drawing/2014/main" id="{D59A5339-E5EC-EFA8-298F-63B29F2525F5}"/>
              </a:ext>
            </a:extLst>
          </p:cNvPr>
          <p:cNvPicPr>
            <a:picLocks noChangeAspect="1"/>
          </p:cNvPicPr>
          <p:nvPr/>
        </p:nvPicPr>
        <p:blipFill>
          <a:blip r:embed="rId2">
            <a:extLst>
              <a:ext uri="{28A0092B-C50C-407E-A947-70E740481C1C}">
                <a14:useLocalDpi xmlns:a14="http://schemas.microsoft.com/office/drawing/2010/main" val="0"/>
              </a:ext>
            </a:extLst>
          </a:blip>
          <a:srcRect b="4330"/>
          <a:stretch/>
        </p:blipFill>
        <p:spPr>
          <a:xfrm>
            <a:off x="2528994" y="1258442"/>
            <a:ext cx="5709937" cy="5143751"/>
          </a:xfrm>
          <a:prstGeom prst="rect">
            <a:avLst/>
          </a:prstGeom>
        </p:spPr>
      </p:pic>
    </p:spTree>
    <p:extLst>
      <p:ext uri="{BB962C8B-B14F-4D97-AF65-F5344CB8AC3E}">
        <p14:creationId xmlns:p14="http://schemas.microsoft.com/office/powerpoint/2010/main" val="2778962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F56D-A8DF-C993-8F7E-7F8FCF645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52298-6C7F-9F29-CDAD-335B3CB10B17}"/>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B9B20098-9249-CB9A-5CDD-19EEF147A1B0}"/>
              </a:ext>
            </a:extLst>
          </p:cNvPr>
          <p:cNvSpPr>
            <a:spLocks noGrp="1"/>
          </p:cNvSpPr>
          <p:nvPr>
            <p:ph idx="1"/>
          </p:nvPr>
        </p:nvSpPr>
        <p:spPr>
          <a:xfrm>
            <a:off x="149291" y="1168399"/>
            <a:ext cx="11829350" cy="5323839"/>
          </a:xfrm>
        </p:spPr>
        <p:txBody>
          <a:bodyPr>
            <a:noAutofit/>
          </a:bodyPr>
          <a:lstStyle/>
          <a:p>
            <a:pPr marL="0" indent="0">
              <a:buNone/>
            </a:pPr>
            <a:r>
              <a:rPr lang="en-US" sz="2400" b="1" dirty="0"/>
              <a:t> 1. Data Preprocessing</a:t>
            </a:r>
          </a:p>
          <a:p>
            <a:pPr marL="457200" lvl="1" indent="0">
              <a:buNone/>
            </a:pPr>
            <a:r>
              <a:rPr lang="en-US" dirty="0"/>
              <a:t>The dataset Tweepfake.csv is loaded from Dataset/ and preprocessed by:</a:t>
            </a:r>
          </a:p>
          <a:p>
            <a:pPr lvl="1">
              <a:buFont typeface="Arial" panose="020B0604020202020204" pitchFamily="34" charset="0"/>
              <a:buChar char="•"/>
            </a:pPr>
            <a:r>
              <a:rPr lang="en-US" sz="2200" dirty="0"/>
              <a:t>Removing punctuation, special characters, and stop words.</a:t>
            </a:r>
          </a:p>
          <a:p>
            <a:pPr lvl="1">
              <a:buFont typeface="Arial" panose="020B0604020202020204" pitchFamily="34" charset="0"/>
              <a:buChar char="•"/>
            </a:pPr>
            <a:r>
              <a:rPr lang="en-US" sz="2200" dirty="0"/>
              <a:t>Converting text data into numerical vectors using TF-IDF etc.</a:t>
            </a:r>
          </a:p>
          <a:p>
            <a:pPr marL="457200" lvl="1" indent="0">
              <a:buNone/>
            </a:pPr>
            <a:endParaRPr lang="en-US" sz="1000" dirty="0"/>
          </a:p>
          <a:p>
            <a:pPr marL="0" indent="0">
              <a:buNone/>
            </a:pPr>
            <a:r>
              <a:rPr lang="en-US" sz="2400" b="1" dirty="0"/>
              <a:t>2. Machine Learning Model Training</a:t>
            </a:r>
          </a:p>
          <a:p>
            <a:pPr lvl="1">
              <a:buFont typeface="Arial" panose="020B0604020202020204" pitchFamily="34" charset="0"/>
              <a:buChar char="•"/>
            </a:pPr>
            <a:r>
              <a:rPr lang="en-US" sz="2200" dirty="0"/>
              <a:t>Multiple ML models are trained for comparison.</a:t>
            </a:r>
          </a:p>
          <a:p>
            <a:pPr lvl="1">
              <a:buFont typeface="Arial" panose="020B0604020202020204" pitchFamily="34" charset="0"/>
              <a:buChar char="•"/>
            </a:pPr>
            <a:r>
              <a:rPr lang="en-US" sz="2200" dirty="0"/>
              <a:t>Performance Metrics (Accuracy, Precision, Recall, F1-Score) are computed.</a:t>
            </a:r>
          </a:p>
          <a:p>
            <a:pPr marL="457200" lvl="1" indent="0">
              <a:buNone/>
            </a:pPr>
            <a:endParaRPr lang="en-US" sz="1000" dirty="0"/>
          </a:p>
          <a:p>
            <a:pPr marL="0" indent="0">
              <a:buNone/>
            </a:pPr>
            <a:r>
              <a:rPr lang="en-US" sz="2400" b="1" dirty="0"/>
              <a:t>3. CNN Model for Deep Learning-Based Classification</a:t>
            </a:r>
          </a:p>
          <a:p>
            <a:pPr marL="457200" lvl="1" indent="0">
              <a:buNone/>
            </a:pPr>
            <a:r>
              <a:rPr lang="en-US" dirty="0"/>
              <a:t>The vectorized data is reshaped into a 3D format and passed into a CNN model.</a:t>
            </a:r>
          </a:p>
          <a:p>
            <a:pPr lvl="1">
              <a:buFont typeface="Arial" panose="020B0604020202020204" pitchFamily="34" charset="0"/>
              <a:buChar char="•"/>
            </a:pPr>
            <a:r>
              <a:rPr lang="en-US" sz="2200" dirty="0"/>
              <a:t>If no pre-trained weights exist, the model is trained and saved.</a:t>
            </a:r>
          </a:p>
          <a:p>
            <a:pPr lvl="1">
              <a:buFont typeface="Arial" panose="020B0604020202020204" pitchFamily="34" charset="0"/>
              <a:buChar char="•"/>
            </a:pPr>
            <a:r>
              <a:rPr lang="en-US" sz="2200" dirty="0"/>
              <a:t>Otherwise, pre-trained weights are loaded from model/cnn_weights.hdf5.</a:t>
            </a:r>
          </a:p>
          <a:p>
            <a:pPr marL="457200" lvl="1" indent="0">
              <a:buNone/>
            </a:pPr>
            <a:endParaRPr lang="en-US" sz="2200" dirty="0"/>
          </a:p>
          <a:p>
            <a:endParaRPr lang="en-IN" sz="2400" dirty="0"/>
          </a:p>
        </p:txBody>
      </p:sp>
    </p:spTree>
    <p:extLst>
      <p:ext uri="{BB962C8B-B14F-4D97-AF65-F5344CB8AC3E}">
        <p14:creationId xmlns:p14="http://schemas.microsoft.com/office/powerpoint/2010/main" val="3388798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6A6D-B19C-AB41-7B69-872FA730E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C1D64-15EB-03E5-8DAB-26CD27A8A7D0}"/>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73E615B7-29A4-A3F8-99CD-D663C93F9E16}"/>
              </a:ext>
            </a:extLst>
          </p:cNvPr>
          <p:cNvSpPr>
            <a:spLocks noGrp="1"/>
          </p:cNvSpPr>
          <p:nvPr>
            <p:ph idx="1"/>
          </p:nvPr>
        </p:nvSpPr>
        <p:spPr>
          <a:xfrm>
            <a:off x="149291" y="1168399"/>
            <a:ext cx="11829350" cy="5323839"/>
          </a:xfrm>
        </p:spPr>
        <p:txBody>
          <a:bodyPr>
            <a:noAutofit/>
          </a:bodyPr>
          <a:lstStyle/>
          <a:p>
            <a:pPr marL="0" indent="0">
              <a:buNone/>
            </a:pPr>
            <a:r>
              <a:rPr lang="en-US" sz="2400" b="1" dirty="0"/>
              <a:t>4. Hybrid CNN + Random Forest Model</a:t>
            </a:r>
          </a:p>
          <a:p>
            <a:pPr marL="457200" lvl="1" indent="0">
              <a:buNone/>
            </a:pPr>
            <a:r>
              <a:rPr lang="en-US" dirty="0"/>
              <a:t>The CNN model's second-last layer is used to extract deep features and used to train the Classifier to improve detection performance.</a:t>
            </a:r>
          </a:p>
          <a:p>
            <a:pPr marL="0" indent="0">
              <a:buNone/>
            </a:pPr>
            <a:r>
              <a:rPr lang="en-US" sz="2400" b="1" dirty="0"/>
              <a:t>5. Web Interface &amp; Django Views</a:t>
            </a:r>
          </a:p>
          <a:p>
            <a:pPr lvl="1">
              <a:buFont typeface="Arial" panose="020B0604020202020204" pitchFamily="34" charset="0"/>
              <a:buChar char="•"/>
            </a:pPr>
            <a:r>
              <a:rPr lang="en-US" sz="1800" dirty="0"/>
              <a:t>index()  				→ Renders the homepage.</a:t>
            </a:r>
          </a:p>
          <a:p>
            <a:pPr lvl="1">
              <a:buFont typeface="Arial" panose="020B0604020202020204" pitchFamily="34" charset="0"/>
              <a:buChar char="•"/>
            </a:pPr>
            <a:r>
              <a:rPr lang="en-US" sz="1800" dirty="0" err="1"/>
              <a:t>UserLogin</a:t>
            </a:r>
            <a:r>
              <a:rPr lang="en-US" sz="1800" dirty="0"/>
              <a:t>() &amp; Register() 		→ Handles user authentication.</a:t>
            </a:r>
          </a:p>
          <a:p>
            <a:pPr lvl="1">
              <a:buFont typeface="Arial" panose="020B0604020202020204" pitchFamily="34" charset="0"/>
              <a:buChar char="•"/>
            </a:pPr>
            <a:r>
              <a:rPr lang="en-US" sz="1800" dirty="0" err="1"/>
              <a:t>LoadDataset</a:t>
            </a:r>
            <a:r>
              <a:rPr lang="en-US" sz="1800" dirty="0"/>
              <a:t>() 			→ Displays sample tweets from the dataset.</a:t>
            </a:r>
          </a:p>
          <a:p>
            <a:pPr lvl="1">
              <a:buFont typeface="Arial" panose="020B0604020202020204" pitchFamily="34" charset="0"/>
              <a:buChar char="•"/>
            </a:pPr>
            <a:r>
              <a:rPr lang="en-US" sz="1800" dirty="0" err="1"/>
              <a:t>TrainML</a:t>
            </a:r>
            <a:r>
              <a:rPr lang="en-US" sz="1800" dirty="0"/>
              <a:t>() 				→ Trains and evaluates models, generating a comparison graph.</a:t>
            </a:r>
          </a:p>
          <a:p>
            <a:pPr lvl="1">
              <a:buFont typeface="Arial" panose="020B0604020202020204" pitchFamily="34" charset="0"/>
              <a:buChar char="•"/>
            </a:pPr>
            <a:r>
              <a:rPr lang="en-US" sz="1800" dirty="0" err="1"/>
              <a:t>DetectFake</a:t>
            </a:r>
            <a:r>
              <a:rPr lang="en-US" sz="1800" dirty="0"/>
              <a:t>() &amp; </a:t>
            </a:r>
            <a:r>
              <a:rPr lang="en-US" sz="1800" dirty="0" err="1"/>
              <a:t>DetectFakeAction</a:t>
            </a:r>
            <a:r>
              <a:rPr lang="en-US" sz="1800" dirty="0"/>
              <a:t>() 	→ Accepts user input tweets and predicts whether they are fake or real.</a:t>
            </a:r>
          </a:p>
          <a:p>
            <a:pPr marL="0" indent="0">
              <a:buNone/>
            </a:pPr>
            <a:r>
              <a:rPr lang="en-US" sz="2400" b="1" dirty="0"/>
              <a:t>6. Deepfake Detection</a:t>
            </a:r>
          </a:p>
          <a:p>
            <a:pPr marL="457200" lvl="1" indent="0">
              <a:buNone/>
            </a:pPr>
            <a:r>
              <a:rPr lang="en-US" dirty="0"/>
              <a:t>User submits a tweet.</a:t>
            </a:r>
          </a:p>
          <a:p>
            <a:pPr marL="457200" lvl="1" indent="0">
              <a:buNone/>
            </a:pPr>
            <a:r>
              <a:rPr lang="en-US" dirty="0"/>
              <a:t>The tweet is preprocessed and converted using TF-IDF.</a:t>
            </a:r>
          </a:p>
          <a:p>
            <a:pPr marL="457200" lvl="1" indent="0">
              <a:buNone/>
            </a:pPr>
            <a:r>
              <a:rPr lang="en-US" dirty="0"/>
              <a:t>The trained CNN model predicts if the tweet is from a bot or a real user.</a:t>
            </a:r>
          </a:p>
          <a:p>
            <a:pPr marL="457200" lvl="1" indent="0">
              <a:buNone/>
            </a:pPr>
            <a:r>
              <a:rPr lang="en-US" dirty="0"/>
              <a:t>The result is displayed to the user.</a:t>
            </a:r>
          </a:p>
          <a:p>
            <a:pPr marL="457200" lvl="1" indent="0">
              <a:buNone/>
            </a:pPr>
            <a:endParaRPr lang="en-US" sz="2200" dirty="0"/>
          </a:p>
          <a:p>
            <a:endParaRPr lang="en-IN" sz="2400" dirty="0"/>
          </a:p>
        </p:txBody>
      </p:sp>
    </p:spTree>
    <p:extLst>
      <p:ext uri="{BB962C8B-B14F-4D97-AF65-F5344CB8AC3E}">
        <p14:creationId xmlns:p14="http://schemas.microsoft.com/office/powerpoint/2010/main" val="1847538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7345-8A5B-7755-BB69-1D008498F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FB8A8-5F6A-7F61-C3F2-29F1C47562E6}"/>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FD4CB20D-F33D-244E-A09C-DAFE25468243}"/>
              </a:ext>
            </a:extLst>
          </p:cNvPr>
          <p:cNvSpPr>
            <a:spLocks noGrp="1"/>
          </p:cNvSpPr>
          <p:nvPr>
            <p:ph idx="1"/>
          </p:nvPr>
        </p:nvSpPr>
        <p:spPr>
          <a:xfrm>
            <a:off x="149291" y="1168399"/>
            <a:ext cx="11829350" cy="5323839"/>
          </a:xfrm>
        </p:spPr>
        <p:txBody>
          <a:bodyPr>
            <a:normAutofit/>
          </a:bodyPr>
          <a:lstStyle/>
          <a:p>
            <a:pPr marL="0" indent="0">
              <a:buNone/>
            </a:pPr>
            <a:r>
              <a:rPr lang="en-US" sz="2400" b="1" dirty="0"/>
              <a:t> Fast Text Embeddings</a:t>
            </a:r>
            <a:endParaRPr lang="en-US" sz="2400" dirty="0"/>
          </a:p>
          <a:p>
            <a:endParaRPr lang="en-IN" sz="2400" dirty="0"/>
          </a:p>
        </p:txBody>
      </p:sp>
      <p:pic>
        <p:nvPicPr>
          <p:cNvPr id="4" name="Picture 3" descr="A screenshot of a computer&#10;&#10;AI-generated content may be incorrect.">
            <a:extLst>
              <a:ext uri="{FF2B5EF4-FFF2-40B4-BE49-F238E27FC236}">
                <a16:creationId xmlns:a16="http://schemas.microsoft.com/office/drawing/2014/main" id="{57BF7FD1-4630-8069-2AD1-3C8D80A4DE23}"/>
              </a:ext>
            </a:extLst>
          </p:cNvPr>
          <p:cNvPicPr>
            <a:picLocks noChangeAspect="1"/>
          </p:cNvPicPr>
          <p:nvPr/>
        </p:nvPicPr>
        <p:blipFill>
          <a:blip r:embed="rId2">
            <a:extLst>
              <a:ext uri="{28A0092B-C50C-407E-A947-70E740481C1C}">
                <a14:useLocalDpi xmlns:a14="http://schemas.microsoft.com/office/drawing/2010/main" val="0"/>
              </a:ext>
            </a:extLst>
          </a:blip>
          <a:srcRect l="151" t="15668" r="1387" b="5932"/>
          <a:stretch/>
        </p:blipFill>
        <p:spPr>
          <a:xfrm>
            <a:off x="802433" y="1656778"/>
            <a:ext cx="10587133" cy="4741950"/>
          </a:xfrm>
          <a:prstGeom prst="rect">
            <a:avLst/>
          </a:prstGeom>
        </p:spPr>
      </p:pic>
    </p:spTree>
    <p:extLst>
      <p:ext uri="{BB962C8B-B14F-4D97-AF65-F5344CB8AC3E}">
        <p14:creationId xmlns:p14="http://schemas.microsoft.com/office/powerpoint/2010/main" val="903735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CB8E8-789F-076C-4A10-88E56D251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3E07F-71D0-1BEF-52B7-D216269E2BDC}"/>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169B37B7-9F7F-F3A7-21F1-CA5DCC7C3C8F}"/>
              </a:ext>
            </a:extLst>
          </p:cNvPr>
          <p:cNvSpPr>
            <a:spLocks noGrp="1"/>
          </p:cNvSpPr>
          <p:nvPr>
            <p:ph idx="1"/>
          </p:nvPr>
        </p:nvSpPr>
        <p:spPr>
          <a:xfrm>
            <a:off x="149291" y="1168399"/>
            <a:ext cx="11829350" cy="5323839"/>
          </a:xfrm>
        </p:spPr>
        <p:txBody>
          <a:bodyPr>
            <a:normAutofit/>
          </a:bodyPr>
          <a:lstStyle/>
          <a:p>
            <a:pPr marL="0" indent="0">
              <a:buNone/>
            </a:pPr>
            <a:r>
              <a:rPr lang="en-US" sz="2400" b="1" dirty="0"/>
              <a:t> Test case of Deepfake</a:t>
            </a:r>
            <a:endParaRPr lang="en-US" sz="2400" dirty="0"/>
          </a:p>
          <a:p>
            <a:endParaRPr lang="en-IN" sz="2400" dirty="0"/>
          </a:p>
        </p:txBody>
      </p:sp>
      <p:pic>
        <p:nvPicPr>
          <p:cNvPr id="4" name="Picture 3" descr="A screenshot of a computer&#10;&#10;AI-generated content may be incorrect.">
            <a:extLst>
              <a:ext uri="{FF2B5EF4-FFF2-40B4-BE49-F238E27FC236}">
                <a16:creationId xmlns:a16="http://schemas.microsoft.com/office/drawing/2014/main" id="{D8596079-E89A-44ED-39F5-C6E2F018B6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1478" y="1606690"/>
            <a:ext cx="8396514" cy="4723039"/>
          </a:xfrm>
          <a:prstGeom prst="rect">
            <a:avLst/>
          </a:prstGeom>
        </p:spPr>
      </p:pic>
    </p:spTree>
    <p:extLst>
      <p:ext uri="{BB962C8B-B14F-4D97-AF65-F5344CB8AC3E}">
        <p14:creationId xmlns:p14="http://schemas.microsoft.com/office/powerpoint/2010/main" val="3274880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E54C5-C64F-1EF6-7AF5-EAFCB6EC3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2AB23-405D-294B-ADA9-9869452DE0D5}"/>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204FA838-6290-3703-0145-B50EB91CAAAC}"/>
              </a:ext>
            </a:extLst>
          </p:cNvPr>
          <p:cNvSpPr>
            <a:spLocks noGrp="1"/>
          </p:cNvSpPr>
          <p:nvPr>
            <p:ph idx="1"/>
          </p:nvPr>
        </p:nvSpPr>
        <p:spPr>
          <a:xfrm>
            <a:off x="149291" y="1168399"/>
            <a:ext cx="11829350" cy="5323839"/>
          </a:xfrm>
        </p:spPr>
        <p:txBody>
          <a:bodyPr>
            <a:normAutofit/>
          </a:bodyPr>
          <a:lstStyle/>
          <a:p>
            <a:pPr marL="0" indent="0">
              <a:buNone/>
            </a:pPr>
            <a:r>
              <a:rPr lang="en-US" sz="2400" b="1" dirty="0"/>
              <a:t> Test case Result 1</a:t>
            </a:r>
            <a:endParaRPr lang="en-US" sz="2400" dirty="0"/>
          </a:p>
          <a:p>
            <a:endParaRPr lang="en-IN" sz="2400" dirty="0"/>
          </a:p>
        </p:txBody>
      </p:sp>
      <p:pic>
        <p:nvPicPr>
          <p:cNvPr id="5" name="Picture 4" descr="A screenshot of a computer&#10;&#10;AI-generated content may be incorrect.">
            <a:extLst>
              <a:ext uri="{FF2B5EF4-FFF2-40B4-BE49-F238E27FC236}">
                <a16:creationId xmlns:a16="http://schemas.microsoft.com/office/drawing/2014/main" id="{7E94E0F5-9CC9-C10B-E66F-688CD20D0F6E}"/>
              </a:ext>
            </a:extLst>
          </p:cNvPr>
          <p:cNvPicPr>
            <a:picLocks noChangeAspect="1"/>
          </p:cNvPicPr>
          <p:nvPr/>
        </p:nvPicPr>
        <p:blipFill>
          <a:blip r:embed="rId2">
            <a:extLst>
              <a:ext uri="{28A0092B-C50C-407E-A947-70E740481C1C}">
                <a14:useLocalDpi xmlns:a14="http://schemas.microsoft.com/office/drawing/2010/main" val="0"/>
              </a:ext>
            </a:extLst>
          </a:blip>
          <a:srcRect l="20832" t="75154" r="21797"/>
          <a:stretch/>
        </p:blipFill>
        <p:spPr>
          <a:xfrm>
            <a:off x="1041844" y="2326868"/>
            <a:ext cx="10044243" cy="2446860"/>
          </a:xfrm>
          <a:prstGeom prst="rect">
            <a:avLst/>
          </a:prstGeom>
        </p:spPr>
      </p:pic>
    </p:spTree>
    <p:extLst>
      <p:ext uri="{BB962C8B-B14F-4D97-AF65-F5344CB8AC3E}">
        <p14:creationId xmlns:p14="http://schemas.microsoft.com/office/powerpoint/2010/main" val="1373290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F8896-2B51-AD08-6E11-C24BF6FFB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DD750-BF0E-E001-DE0F-678D4F13C4CA}"/>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C271988A-D2AF-3DA0-526A-8E9FE7250AF3}"/>
              </a:ext>
            </a:extLst>
          </p:cNvPr>
          <p:cNvSpPr>
            <a:spLocks noGrp="1"/>
          </p:cNvSpPr>
          <p:nvPr>
            <p:ph idx="1"/>
          </p:nvPr>
        </p:nvSpPr>
        <p:spPr>
          <a:xfrm>
            <a:off x="149291" y="1168399"/>
            <a:ext cx="11829350" cy="5323839"/>
          </a:xfrm>
        </p:spPr>
        <p:txBody>
          <a:bodyPr>
            <a:normAutofit/>
          </a:bodyPr>
          <a:lstStyle/>
          <a:p>
            <a:pPr marL="0" indent="0">
              <a:buNone/>
            </a:pPr>
            <a:r>
              <a:rPr lang="en-US" sz="2400" b="1" dirty="0"/>
              <a:t> Test case of Normal Tweet</a:t>
            </a:r>
            <a:endParaRPr lang="en-US" sz="2400" dirty="0"/>
          </a:p>
          <a:p>
            <a:endParaRPr lang="en-IN" sz="2400" dirty="0"/>
          </a:p>
        </p:txBody>
      </p:sp>
      <p:pic>
        <p:nvPicPr>
          <p:cNvPr id="5" name="Picture 4" descr="A screenshot of a computer&#10;&#10;AI-generated content may be incorrect.">
            <a:extLst>
              <a:ext uri="{FF2B5EF4-FFF2-40B4-BE49-F238E27FC236}">
                <a16:creationId xmlns:a16="http://schemas.microsoft.com/office/drawing/2014/main" id="{0202431F-C4D5-05F9-804C-1D4DEA5C5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134" y="1686389"/>
            <a:ext cx="8543731" cy="4805849"/>
          </a:xfrm>
          <a:prstGeom prst="rect">
            <a:avLst/>
          </a:prstGeom>
        </p:spPr>
      </p:pic>
    </p:spTree>
    <p:extLst>
      <p:ext uri="{BB962C8B-B14F-4D97-AF65-F5344CB8AC3E}">
        <p14:creationId xmlns:p14="http://schemas.microsoft.com/office/powerpoint/2010/main" val="3731238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B1C59-1E9F-363F-35FA-DB4711378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7861D-C4A2-DDE1-00B2-012431850B49}"/>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E7EA66FB-795D-C1FD-BE77-0FC937CE1FEA}"/>
              </a:ext>
            </a:extLst>
          </p:cNvPr>
          <p:cNvSpPr>
            <a:spLocks noGrp="1"/>
          </p:cNvSpPr>
          <p:nvPr>
            <p:ph idx="1"/>
          </p:nvPr>
        </p:nvSpPr>
        <p:spPr>
          <a:xfrm>
            <a:off x="149291" y="1168399"/>
            <a:ext cx="11829350" cy="5323839"/>
          </a:xfrm>
        </p:spPr>
        <p:txBody>
          <a:bodyPr>
            <a:normAutofit/>
          </a:bodyPr>
          <a:lstStyle/>
          <a:p>
            <a:pPr marL="0" indent="0">
              <a:buNone/>
            </a:pPr>
            <a:r>
              <a:rPr lang="en-US" sz="2400" b="1" dirty="0"/>
              <a:t> Test case Result 2</a:t>
            </a:r>
            <a:endParaRPr lang="en-US" sz="2400" dirty="0"/>
          </a:p>
          <a:p>
            <a:endParaRPr lang="en-IN" sz="2400" dirty="0"/>
          </a:p>
        </p:txBody>
      </p:sp>
      <p:pic>
        <p:nvPicPr>
          <p:cNvPr id="5" name="Picture 4" descr="A screenshot of a computer&#10;&#10;AI-generated content may be incorrect.">
            <a:extLst>
              <a:ext uri="{FF2B5EF4-FFF2-40B4-BE49-F238E27FC236}">
                <a16:creationId xmlns:a16="http://schemas.microsoft.com/office/drawing/2014/main" id="{75E81C8B-C9CA-D1E6-0AC1-54413191709B}"/>
              </a:ext>
            </a:extLst>
          </p:cNvPr>
          <p:cNvPicPr>
            <a:picLocks noChangeAspect="1"/>
          </p:cNvPicPr>
          <p:nvPr/>
        </p:nvPicPr>
        <p:blipFill>
          <a:blip r:embed="rId2">
            <a:extLst>
              <a:ext uri="{28A0092B-C50C-407E-A947-70E740481C1C}">
                <a14:useLocalDpi xmlns:a14="http://schemas.microsoft.com/office/drawing/2010/main" val="0"/>
              </a:ext>
            </a:extLst>
          </a:blip>
          <a:srcRect l="21124" t="75646" r="21861"/>
          <a:stretch/>
        </p:blipFill>
        <p:spPr>
          <a:xfrm>
            <a:off x="1668911" y="2365310"/>
            <a:ext cx="8854177" cy="2127380"/>
          </a:xfrm>
          <a:prstGeom prst="rect">
            <a:avLst/>
          </a:prstGeom>
        </p:spPr>
      </p:pic>
    </p:spTree>
    <p:extLst>
      <p:ext uri="{BB962C8B-B14F-4D97-AF65-F5344CB8AC3E}">
        <p14:creationId xmlns:p14="http://schemas.microsoft.com/office/powerpoint/2010/main" val="2915785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B9F66-4C21-23A8-B40C-8D79F2C49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CE2DB-7A3F-AE24-A5F9-C2E22C14E8EC}"/>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A149263A-8255-2095-0438-08F865E6729D}"/>
              </a:ext>
            </a:extLst>
          </p:cNvPr>
          <p:cNvSpPr>
            <a:spLocks noGrp="1"/>
          </p:cNvSpPr>
          <p:nvPr>
            <p:ph idx="1"/>
          </p:nvPr>
        </p:nvSpPr>
        <p:spPr>
          <a:xfrm>
            <a:off x="149291" y="1168399"/>
            <a:ext cx="11829350" cy="5323839"/>
          </a:xfrm>
        </p:spPr>
        <p:txBody>
          <a:bodyPr>
            <a:normAutofit/>
          </a:bodyPr>
          <a:lstStyle/>
          <a:p>
            <a:pPr marL="0" indent="0">
              <a:buNone/>
            </a:pPr>
            <a:r>
              <a:rPr lang="en-US" sz="2400" b="1" dirty="0"/>
              <a:t> Graph Scores of Algorithms</a:t>
            </a:r>
            <a:endParaRPr lang="en-US" sz="2400" dirty="0"/>
          </a:p>
          <a:p>
            <a:endParaRPr lang="en-IN" sz="2400" dirty="0"/>
          </a:p>
        </p:txBody>
      </p:sp>
      <p:pic>
        <p:nvPicPr>
          <p:cNvPr id="5" name="Picture 4" descr="A screenshot of a computer&#10;&#10;AI-generated content may be incorrect.">
            <a:extLst>
              <a:ext uri="{FF2B5EF4-FFF2-40B4-BE49-F238E27FC236}">
                <a16:creationId xmlns:a16="http://schemas.microsoft.com/office/drawing/2014/main" id="{654ED2C4-27D9-3F0F-ECAC-774BD5729536}"/>
              </a:ext>
            </a:extLst>
          </p:cNvPr>
          <p:cNvPicPr>
            <a:picLocks noChangeAspect="1"/>
          </p:cNvPicPr>
          <p:nvPr/>
        </p:nvPicPr>
        <p:blipFill>
          <a:blip r:embed="rId2">
            <a:extLst>
              <a:ext uri="{28A0092B-C50C-407E-A947-70E740481C1C}">
                <a14:useLocalDpi xmlns:a14="http://schemas.microsoft.com/office/drawing/2010/main" val="0"/>
              </a:ext>
            </a:extLst>
          </a:blip>
          <a:srcRect l="2975" t="13818" r="2806" b="7347"/>
          <a:stretch/>
        </p:blipFill>
        <p:spPr>
          <a:xfrm>
            <a:off x="918132" y="1648436"/>
            <a:ext cx="10291667" cy="4843802"/>
          </a:xfrm>
          <a:prstGeom prst="rect">
            <a:avLst/>
          </a:prstGeom>
        </p:spPr>
      </p:pic>
    </p:spTree>
    <p:extLst>
      <p:ext uri="{BB962C8B-B14F-4D97-AF65-F5344CB8AC3E}">
        <p14:creationId xmlns:p14="http://schemas.microsoft.com/office/powerpoint/2010/main" val="2905839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a:xfrm>
            <a:off x="0" y="223428"/>
            <a:ext cx="12192000" cy="714892"/>
          </a:xfrm>
        </p:spPr>
        <p:txBody>
          <a:bodyPr/>
          <a:lstStyle/>
          <a:p>
            <a:r>
              <a:rPr lang="en-IN" dirty="0"/>
              <a:t>References</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noAutofit/>
          </a:bodyPr>
          <a:lstStyle/>
          <a:p>
            <a:pPr marL="577850" indent="-577850">
              <a:lnSpc>
                <a:spcPct val="100000"/>
              </a:lnSpc>
              <a:buNone/>
            </a:pPr>
            <a:r>
              <a:rPr lang="en-IN" sz="2000" dirty="0"/>
              <a:t>[1]. T. </a:t>
            </a:r>
            <a:r>
              <a:rPr lang="en-IN" sz="2000" dirty="0" err="1"/>
              <a:t>Fagni</a:t>
            </a:r>
            <a:r>
              <a:rPr lang="en-IN" sz="2000" dirty="0"/>
              <a:t>, F. Falchi, M. Gambini, et al., “</a:t>
            </a:r>
            <a:r>
              <a:rPr lang="en-IN" sz="2000" dirty="0" err="1"/>
              <a:t>Tweepfake</a:t>
            </a:r>
            <a:r>
              <a:rPr lang="en-IN" sz="2000" dirty="0"/>
              <a:t>: About detecting deepfake tweets,” PLOS One, vol. 16, pp. 1–20, Jan. 2021.</a:t>
            </a:r>
          </a:p>
          <a:p>
            <a:pPr marL="577850" indent="-577850">
              <a:lnSpc>
                <a:spcPct val="100000"/>
              </a:lnSpc>
              <a:buNone/>
            </a:pPr>
            <a:endParaRPr lang="en-IN" sz="2000" dirty="0"/>
          </a:p>
          <a:p>
            <a:pPr marL="577850" indent="-577850">
              <a:lnSpc>
                <a:spcPct val="100000"/>
              </a:lnSpc>
              <a:buNone/>
            </a:pPr>
            <a:r>
              <a:rPr lang="en-IN" sz="2000" dirty="0"/>
              <a:t>[2]. S. </a:t>
            </a:r>
            <a:r>
              <a:rPr lang="en-IN" sz="2000" dirty="0" err="1"/>
              <a:t>Mitrović</a:t>
            </a:r>
            <a:r>
              <a:rPr lang="en-IN" sz="2000" dirty="0"/>
              <a:t>, D. </a:t>
            </a:r>
            <a:r>
              <a:rPr lang="en-IN" sz="2000" dirty="0" err="1"/>
              <a:t>Andreoletti</a:t>
            </a:r>
            <a:r>
              <a:rPr lang="en-IN" sz="2000" dirty="0"/>
              <a:t>, and O. Ayoub, “ChatGPT or human? Detect and explain,” </a:t>
            </a:r>
            <a:r>
              <a:rPr lang="en-IN" sz="2000" dirty="0" err="1"/>
              <a:t>arxiv</a:t>
            </a:r>
            <a:r>
              <a:rPr lang="en-IN" sz="2000" dirty="0"/>
              <a:t> preprint, vol. 2023, pp. 1–10, Jan. 2023.</a:t>
            </a:r>
          </a:p>
          <a:p>
            <a:pPr marL="577850" indent="-577850">
              <a:lnSpc>
                <a:spcPct val="100000"/>
              </a:lnSpc>
              <a:buNone/>
            </a:pPr>
            <a:endParaRPr lang="en-IN" sz="2000" dirty="0"/>
          </a:p>
          <a:p>
            <a:pPr marL="577850" indent="-577850">
              <a:lnSpc>
                <a:spcPct val="100000"/>
              </a:lnSpc>
              <a:buNone/>
            </a:pPr>
            <a:r>
              <a:rPr lang="en-IN" sz="2000" dirty="0"/>
              <a:t>[3]. R. Vaibhav, R. Furqan, A. </a:t>
            </a:r>
            <a:r>
              <a:rPr lang="en-IN" sz="2000" dirty="0" err="1"/>
              <a:t>Aashir</a:t>
            </a:r>
            <a:r>
              <a:rPr lang="en-IN" sz="2000" dirty="0"/>
              <a:t>, P. B. Washington, E. Lee, and A. Imran, “Deepfake tweets classification using stacked Bi-LSTM and word embeddings,” </a:t>
            </a:r>
            <a:r>
              <a:rPr lang="en-IN" sz="2000" dirty="0" err="1"/>
              <a:t>PeerJ</a:t>
            </a:r>
            <a:r>
              <a:rPr lang="en-IN" sz="2000" dirty="0"/>
              <a:t> </a:t>
            </a:r>
            <a:r>
              <a:rPr lang="en-IN" sz="2000" dirty="0" err="1"/>
              <a:t>Comput</a:t>
            </a:r>
            <a:r>
              <a:rPr lang="en-IN" sz="2000" dirty="0"/>
              <a:t>. Sci., vol. 7, pp. e745, Dec. 2021.</a:t>
            </a:r>
          </a:p>
          <a:p>
            <a:pPr marL="577850" indent="-577850">
              <a:lnSpc>
                <a:spcPct val="100000"/>
              </a:lnSpc>
              <a:buNone/>
            </a:pPr>
            <a:endParaRPr lang="en-IN" sz="2000" dirty="0"/>
          </a:p>
          <a:p>
            <a:pPr marL="577850" indent="-577850">
              <a:lnSpc>
                <a:spcPct val="100000"/>
              </a:lnSpc>
              <a:buNone/>
            </a:pPr>
            <a:r>
              <a:rPr lang="en-IN" sz="2000" dirty="0"/>
              <a:t>[4]. A. </a:t>
            </a:r>
            <a:r>
              <a:rPr lang="en-IN" sz="2000" dirty="0" err="1"/>
              <a:t>Heidari</a:t>
            </a:r>
            <a:r>
              <a:rPr lang="en-IN" sz="2000" dirty="0"/>
              <a:t>, N. J. </a:t>
            </a:r>
            <a:r>
              <a:rPr lang="en-IN" sz="2000" dirty="0" err="1"/>
              <a:t>Navimipour</a:t>
            </a:r>
            <a:r>
              <a:rPr lang="en-IN" sz="2000" dirty="0"/>
              <a:t>, H. Dag, and M. Unal, “Deepfake detection using deep learning methods: A systematic and comprehensive review,” WIRES Data Mining and Knowledge Discovery, vol. 14, no. 2, pp. e1520, Mar. 2024.</a:t>
            </a:r>
          </a:p>
          <a:p>
            <a:pPr marL="577850" indent="-577850">
              <a:lnSpc>
                <a:spcPct val="100000"/>
              </a:lnSpc>
              <a:buNone/>
            </a:pPr>
            <a:endParaRPr lang="en-IN" sz="2000" dirty="0"/>
          </a:p>
        </p:txBody>
      </p:sp>
    </p:spTree>
    <p:extLst>
      <p:ext uri="{BB962C8B-B14F-4D97-AF65-F5344CB8AC3E}">
        <p14:creationId xmlns:p14="http://schemas.microsoft.com/office/powerpoint/2010/main" val="788754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IN" sz="4400" b="0" strike="noStrike" spc="-1" dirty="0">
                <a:solidFill>
                  <a:srgbClr val="FFFFFF"/>
                </a:solidFill>
                <a:latin typeface="Times New Roman"/>
              </a:rPr>
              <a:t>Git Hub Dashboard</a:t>
            </a:r>
            <a:endParaRPr lang="en-IN" dirty="0"/>
          </a:p>
        </p:txBody>
      </p:sp>
      <p:sp>
        <p:nvSpPr>
          <p:cNvPr id="4" name="Content Placeholder 2">
            <a:extLst>
              <a:ext uri="{FF2B5EF4-FFF2-40B4-BE49-F238E27FC236}">
                <a16:creationId xmlns:a16="http://schemas.microsoft.com/office/drawing/2014/main" id="{D0230333-6268-988A-D03E-098BB3A2845B}"/>
              </a:ext>
            </a:extLst>
          </p:cNvPr>
          <p:cNvSpPr txBox="1">
            <a:spLocks/>
          </p:cNvSpPr>
          <p:nvPr/>
        </p:nvSpPr>
        <p:spPr>
          <a:xfrm>
            <a:off x="199505" y="5497285"/>
            <a:ext cx="11779135" cy="994953"/>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altLang="en-US" dirty="0">
              <a:sym typeface="+mn-ea"/>
            </a:endParaRPr>
          </a:p>
          <a:p>
            <a:pPr marL="0" indent="0">
              <a:buNone/>
            </a:pPr>
            <a:r>
              <a:rPr lang="en-IN" altLang="en-US" dirty="0">
                <a:sym typeface="+mn-ea"/>
              </a:rPr>
              <a:t>GitHub link : </a:t>
            </a:r>
            <a:r>
              <a:rPr lang="en-IN" altLang="en-US" dirty="0">
                <a:sym typeface="+mn-ea"/>
                <a:hlinkClick r:id="rId2"/>
              </a:rPr>
              <a:t>https://github.com/k-venky/CSD_2021-25_A-15</a:t>
            </a:r>
            <a:endParaRPr lang="en-US" dirty="0"/>
          </a:p>
        </p:txBody>
      </p:sp>
      <p:pic>
        <p:nvPicPr>
          <p:cNvPr id="8" name="Content Placeholder 7" descr="A screenshot of a computer&#10;&#10;Description automatically generated">
            <a:extLst>
              <a:ext uri="{FF2B5EF4-FFF2-40B4-BE49-F238E27FC236}">
                <a16:creationId xmlns:a16="http://schemas.microsoft.com/office/drawing/2014/main" id="{7DDF9850-D3B5-4817-A8EB-C94C601BF90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79740" y="1047758"/>
            <a:ext cx="8632520" cy="4855793"/>
          </a:xfrm>
        </p:spPr>
      </p:pic>
    </p:spTree>
    <p:extLst>
      <p:ext uri="{BB962C8B-B14F-4D97-AF65-F5344CB8AC3E}">
        <p14:creationId xmlns:p14="http://schemas.microsoft.com/office/powerpoint/2010/main" val="3279406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1918</TotalTime>
  <Words>2449</Words>
  <Application>Microsoft Office PowerPoint</Application>
  <PresentationFormat>Widescreen</PresentationFormat>
  <Paragraphs>233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Courier New</vt:lpstr>
      <vt:lpstr>Times New Roman</vt:lpstr>
      <vt:lpstr>Wingdings</vt:lpstr>
      <vt:lpstr>Custom Design</vt:lpstr>
      <vt:lpstr>PowerPoint Presentation</vt:lpstr>
      <vt:lpstr>Contents</vt:lpstr>
      <vt:lpstr>Contents</vt:lpstr>
      <vt:lpstr>Abstract</vt:lpstr>
      <vt:lpstr>Problem Statement</vt:lpstr>
      <vt:lpstr>Objectives</vt:lpstr>
      <vt:lpstr>Literature Survey</vt:lpstr>
      <vt:lpstr>Literature Survey</vt:lpstr>
      <vt:lpstr>Proposed Work</vt:lpstr>
      <vt:lpstr>Proposed Work contd..</vt:lpstr>
      <vt:lpstr>Proposed Work contd..</vt:lpstr>
      <vt:lpstr>Proposed Work contd..</vt:lpstr>
      <vt:lpstr>Introduction</vt:lpstr>
      <vt:lpstr>Existing System</vt:lpstr>
      <vt:lpstr>Proposed System</vt:lpstr>
      <vt:lpstr>Requirements</vt:lpstr>
      <vt:lpstr>Data Preprocessing Techniques</vt:lpstr>
      <vt:lpstr>Data Preprocessing Techniques</vt:lpstr>
      <vt:lpstr>Implementation</vt:lpstr>
      <vt:lpstr>Implementation</vt:lpstr>
      <vt:lpstr>Implementation</vt:lpstr>
      <vt:lpstr>Implementation</vt:lpstr>
      <vt:lpstr>Project Output</vt:lpstr>
      <vt:lpstr>Project Output</vt:lpstr>
      <vt:lpstr>Project Output</vt:lpstr>
      <vt:lpstr>Project Output</vt:lpstr>
      <vt:lpstr>Project Output</vt:lpstr>
      <vt:lpstr>Project Output</vt:lpstr>
      <vt:lpstr>References</vt:lpstr>
      <vt:lpstr>Git Hub Dashboard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Nadeem Avulapalli</cp:lastModifiedBy>
  <cp:revision>129</cp:revision>
  <dcterms:created xsi:type="dcterms:W3CDTF">2019-06-11T05:35:51Z</dcterms:created>
  <dcterms:modified xsi:type="dcterms:W3CDTF">2025-02-13T10:12:52Z</dcterms:modified>
</cp:coreProperties>
</file>