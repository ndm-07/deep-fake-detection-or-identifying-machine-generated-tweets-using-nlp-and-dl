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73" r:id="rId4"/>
    <p:sldId id="276" r:id="rId5"/>
    <p:sldId id="284" r:id="rId6"/>
    <p:sldId id="274" r:id="rId7"/>
    <p:sldId id="275" r:id="rId8"/>
    <p:sldId id="280" r:id="rId9"/>
    <p:sldId id="281" r:id="rId10"/>
    <p:sldId id="282" r:id="rId11"/>
    <p:sldId id="277" r:id="rId12"/>
    <p:sldId id="279" r:id="rId13"/>
    <p:sldId id="278" r:id="rId14"/>
    <p:sldId id="27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009900"/>
    <a:srgbClr val="F4AF83"/>
    <a:srgbClr val="006666"/>
    <a:srgbClr val="0099FF"/>
    <a:srgbClr val="008080"/>
    <a:srgbClr val="0F9F7D"/>
    <a:srgbClr val="008000"/>
    <a:srgbClr val="373545"/>
    <a:srgbClr val="AFAB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92" autoAdjust="0"/>
    <p:restoredTop sz="94660"/>
  </p:normalViewPr>
  <p:slideViewPr>
    <p:cSldViewPr snapToGrid="0">
      <p:cViewPr varScale="1">
        <p:scale>
          <a:sx n="47" d="100"/>
          <a:sy n="47" d="100"/>
        </p:scale>
        <p:origin x="101" y="8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2" d="100"/>
          <a:sy n="52" d="100"/>
        </p:scale>
        <p:origin x="268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Hi to all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E5FBE0-5C21-4E83-8069-52D09BCDD71E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C5872-5BF2-424D-ADD9-174D7927D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6529248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Hi to all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846DD5-0A30-46AD-B2E1-F25508726044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FFBC11-2ED2-450E-A0CC-CEA7380C61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5959501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59A3652-50D4-4FDF-8386-41D9AF369814}"/>
              </a:ext>
            </a:extLst>
          </p:cNvPr>
          <p:cNvSpPr txBox="1">
            <a:spLocks/>
          </p:cNvSpPr>
          <p:nvPr userDrawn="1"/>
        </p:nvSpPr>
        <p:spPr>
          <a:xfrm>
            <a:off x="777239" y="6634573"/>
            <a:ext cx="5781822" cy="22097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600" b="0" cap="small" baseline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B31DCAD4-E344-44EC-AB07-C9E97F2AF1A1}"/>
              </a:ext>
            </a:extLst>
          </p:cNvPr>
          <p:cNvSpPr txBox="1">
            <a:spLocks/>
          </p:cNvSpPr>
          <p:nvPr userDrawn="1"/>
        </p:nvSpPr>
        <p:spPr>
          <a:xfrm>
            <a:off x="6559062" y="6634573"/>
            <a:ext cx="5195133" cy="220979"/>
          </a:xfrm>
          <a:prstGeom prst="rect">
            <a:avLst/>
          </a:prstGeom>
          <a:solidFill>
            <a:srgbClr val="00808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600" b="0" cap="small" baseline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F22E408-EF1D-4BD0-98E0-8FC4C9B3A82C}"/>
              </a:ext>
            </a:extLst>
          </p:cNvPr>
          <p:cNvSpPr txBox="1">
            <a:spLocks/>
          </p:cNvSpPr>
          <p:nvPr userDrawn="1"/>
        </p:nvSpPr>
        <p:spPr>
          <a:xfrm>
            <a:off x="11754196" y="6637020"/>
            <a:ext cx="437803" cy="220979"/>
          </a:xfrm>
          <a:prstGeom prst="rect">
            <a:avLst/>
          </a:prstGeom>
          <a:solidFill>
            <a:schemeClr val="accent4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E7651D7E-4AFA-4EAA-B423-DDD0ED684DAE}"/>
              </a:ext>
            </a:extLst>
          </p:cNvPr>
          <p:cNvSpPr txBox="1">
            <a:spLocks/>
          </p:cNvSpPr>
          <p:nvPr userDrawn="1"/>
        </p:nvSpPr>
        <p:spPr>
          <a:xfrm>
            <a:off x="-1" y="-1"/>
            <a:ext cx="12191999" cy="232759"/>
          </a:xfrm>
          <a:prstGeom prst="rect">
            <a:avLst/>
          </a:prstGeom>
          <a:solidFill>
            <a:srgbClr val="006666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500" b="1" i="1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25449CC-CB33-491F-903E-B38334CA8A09}"/>
              </a:ext>
            </a:extLst>
          </p:cNvPr>
          <p:cNvSpPr txBox="1">
            <a:spLocks/>
          </p:cNvSpPr>
          <p:nvPr userDrawn="1"/>
        </p:nvSpPr>
        <p:spPr>
          <a:xfrm>
            <a:off x="0" y="6634573"/>
            <a:ext cx="777239" cy="22152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600" b="0" cap="small" baseline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973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" y="232759"/>
            <a:ext cx="12192000" cy="714892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>
            <a:lvl1pPr>
              <a:defRPr b="0" cap="none" spc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505" y="1097279"/>
            <a:ext cx="11779135" cy="5394960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Ø"/>
              <a:defRPr/>
            </a:lvl1pPr>
            <a:lvl2pPr marL="685800" indent="-228600">
              <a:buFont typeface="Wingdings" panose="05000000000000000000" pitchFamily="2" charset="2"/>
              <a:buChar char="q"/>
              <a:defRPr/>
            </a:lvl2pPr>
            <a:lvl3pPr marL="1143000" indent="-228600">
              <a:buFont typeface="Courier New" panose="02070309020205020404" pitchFamily="49" charset="0"/>
              <a:buChar char="o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B998037-E035-4CAB-833F-75CAE5A73D0B}"/>
              </a:ext>
            </a:extLst>
          </p:cNvPr>
          <p:cNvSpPr txBox="1">
            <a:spLocks/>
          </p:cNvSpPr>
          <p:nvPr userDrawn="1"/>
        </p:nvSpPr>
        <p:spPr>
          <a:xfrm>
            <a:off x="777239" y="6642828"/>
            <a:ext cx="5654039" cy="215172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0" cap="small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Computer Science and Engineering (Data Science)</a:t>
            </a:r>
            <a:endParaRPr lang="en-IN" sz="1600" b="0" cap="small" baseline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C5DB233-EECA-4CB3-99D6-5066ABF08F18}"/>
              </a:ext>
            </a:extLst>
          </p:cNvPr>
          <p:cNvSpPr txBox="1">
            <a:spLocks/>
          </p:cNvSpPr>
          <p:nvPr userDrawn="1"/>
        </p:nvSpPr>
        <p:spPr>
          <a:xfrm>
            <a:off x="6431278" y="6641866"/>
            <a:ext cx="5322917" cy="216133"/>
          </a:xfrm>
          <a:prstGeom prst="rect">
            <a:avLst/>
          </a:prstGeom>
          <a:solidFill>
            <a:srgbClr val="00808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0" cap="small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Srinivasa Ramanujan Institute of Technology</a:t>
            </a:r>
            <a:endParaRPr lang="en-IN" sz="1600" b="0" cap="small" baseline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CB262772-2230-41D2-9B79-2AECA3A31396}"/>
              </a:ext>
            </a:extLst>
          </p:cNvPr>
          <p:cNvSpPr txBox="1">
            <a:spLocks/>
          </p:cNvSpPr>
          <p:nvPr userDrawn="1"/>
        </p:nvSpPr>
        <p:spPr>
          <a:xfrm>
            <a:off x="11754196" y="6641865"/>
            <a:ext cx="437803" cy="216133"/>
          </a:xfrm>
          <a:prstGeom prst="rect">
            <a:avLst/>
          </a:prstGeom>
          <a:solidFill>
            <a:schemeClr val="accent4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DAC095C-C545-42F9-B93D-2B3224753C51}" type="slidenum">
              <a:rPr lang="en-US" sz="1600" b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‹#›</a:t>
            </a:fld>
            <a:endParaRPr lang="en-IN" sz="1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1B44364A-DBDE-4F64-9D13-B56BF0C232A3}"/>
              </a:ext>
            </a:extLst>
          </p:cNvPr>
          <p:cNvSpPr txBox="1">
            <a:spLocks/>
          </p:cNvSpPr>
          <p:nvPr userDrawn="1"/>
        </p:nvSpPr>
        <p:spPr>
          <a:xfrm>
            <a:off x="-2" y="0"/>
            <a:ext cx="12191999" cy="232759"/>
          </a:xfrm>
          <a:prstGeom prst="rect">
            <a:avLst/>
          </a:prstGeom>
          <a:solidFill>
            <a:srgbClr val="006666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500" b="1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DEEPFAKE DETECTION FOR IDENTIFYING MACHINE-GENERATED TWEETS USING NLP AND DL</a:t>
            </a:r>
            <a:endParaRPr lang="en-IN" sz="1500" b="1" i="1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2D5020-7DF7-495B-96CC-4064365630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6200" y="5956065"/>
            <a:ext cx="685800" cy="6858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1D25D96C-1396-47B4-9E8C-C053C7555307}"/>
              </a:ext>
            </a:extLst>
          </p:cNvPr>
          <p:cNvSpPr txBox="1">
            <a:spLocks/>
          </p:cNvSpPr>
          <p:nvPr userDrawn="1"/>
        </p:nvSpPr>
        <p:spPr>
          <a:xfrm>
            <a:off x="0" y="6642828"/>
            <a:ext cx="777239" cy="21517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0" cap="small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- 15</a:t>
            </a:r>
            <a:endParaRPr lang="en-IN" sz="1600" b="0" cap="small" baseline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5597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516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just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q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just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github.com/k-venky/CSD_2021-25_A-15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11"/>
          <p:cNvSpPr txBox="1">
            <a:spLocks/>
          </p:cNvSpPr>
          <p:nvPr/>
        </p:nvSpPr>
        <p:spPr>
          <a:xfrm>
            <a:off x="6095991" y="1783000"/>
            <a:ext cx="2382924" cy="58453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US" sz="2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 Madhuri</a:t>
            </a:r>
          </a:p>
          <a:p>
            <a:pPr>
              <a:spcBef>
                <a:spcPts val="300"/>
              </a:spcBef>
            </a:pPr>
            <a:r>
              <a:rPr lang="en-US" sz="1200" b="0" dirty="0"/>
              <a:t>Roll No. 214G1A3250</a:t>
            </a:r>
          </a:p>
        </p:txBody>
      </p:sp>
      <p:sp>
        <p:nvSpPr>
          <p:cNvPr id="6" name="Subtitle 11"/>
          <p:cNvSpPr txBox="1">
            <a:spLocks/>
          </p:cNvSpPr>
          <p:nvPr/>
        </p:nvSpPr>
        <p:spPr>
          <a:xfrm>
            <a:off x="3759654" y="2475580"/>
            <a:ext cx="4672674" cy="8980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US" sz="1400" b="0" i="1" dirty="0"/>
              <a:t>Under the guidance of</a:t>
            </a:r>
          </a:p>
          <a:p>
            <a:pPr>
              <a:spcBef>
                <a:spcPts val="200"/>
              </a:spcBef>
            </a:pPr>
            <a:r>
              <a:rPr 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Ms. G. Shabana  </a:t>
            </a:r>
            <a:r>
              <a:rPr lang="en-US" sz="24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M. Tech.</a:t>
            </a:r>
            <a:endParaRPr lang="en-IN" sz="2400" b="0" baseline="-25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200"/>
              </a:spcBef>
            </a:pPr>
            <a:r>
              <a:rPr lang="en-IN" sz="1400" b="0" dirty="0"/>
              <a:t>Assistant Professor</a:t>
            </a:r>
          </a:p>
        </p:txBody>
      </p:sp>
      <p:sp>
        <p:nvSpPr>
          <p:cNvPr id="7" name="Subtitle 11"/>
          <p:cNvSpPr txBox="1">
            <a:spLocks/>
          </p:cNvSpPr>
          <p:nvPr/>
        </p:nvSpPr>
        <p:spPr>
          <a:xfrm>
            <a:off x="1514475" y="5162533"/>
            <a:ext cx="9163049" cy="1427181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4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Department of Computer Science and Engineering (Data Science)      </a:t>
            </a:r>
          </a:p>
          <a:p>
            <a:pPr>
              <a:spcBef>
                <a:spcPts val="500"/>
              </a:spcBef>
            </a:pPr>
            <a:r>
              <a:rPr lang="en-US" sz="6500" b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Srinivasa Ramanujan Institute of Technology</a:t>
            </a:r>
          </a:p>
          <a:p>
            <a:pPr>
              <a:spcBef>
                <a:spcPts val="300"/>
              </a:spcBef>
            </a:pPr>
            <a:r>
              <a:rPr lang="en-US" sz="2100" dirty="0">
                <a:effectLst/>
                <a:ea typeface="Times New Roman" panose="02020603050405020304" pitchFamily="18" charset="0"/>
              </a:rPr>
              <a:t>(Affiliated to JNTUA &amp; Approved by AICTE) (Accredited by NAAC with ‘A’ Grade &amp; Accredited by NBA (EEE, ECE &amp; CSE)</a:t>
            </a:r>
            <a:endParaRPr lang="en-US" sz="2100" b="0" dirty="0"/>
          </a:p>
          <a:p>
            <a:pPr>
              <a:spcBef>
                <a:spcPts val="300"/>
              </a:spcBef>
            </a:pPr>
            <a:r>
              <a:rPr lang="en-US" sz="2300" dirty="0" err="1"/>
              <a:t>Rotarypuram</a:t>
            </a:r>
            <a:r>
              <a:rPr lang="en-US" sz="2300" dirty="0"/>
              <a:t> Village, B K </a:t>
            </a:r>
            <a:r>
              <a:rPr lang="en-US" sz="2300" dirty="0" err="1"/>
              <a:t>Samudram</a:t>
            </a:r>
            <a:r>
              <a:rPr lang="en-US" sz="2300" dirty="0"/>
              <a:t> Mandal, </a:t>
            </a:r>
            <a:r>
              <a:rPr lang="en-US" sz="2300" dirty="0" err="1"/>
              <a:t>Ananthapuramu</a:t>
            </a:r>
            <a:r>
              <a:rPr lang="en-US" sz="2300" dirty="0"/>
              <a:t> – 515701.</a:t>
            </a:r>
          </a:p>
          <a:p>
            <a:pPr>
              <a:spcAft>
                <a:spcPts val="100"/>
              </a:spcAft>
            </a:pPr>
            <a:r>
              <a:rPr lang="en-US" sz="2500" dirty="0">
                <a:solidFill>
                  <a:schemeClr val="accent1">
                    <a:lumMod val="50000"/>
                  </a:schemeClr>
                </a:solidFill>
              </a:rPr>
              <a:t>2024 - 2025</a:t>
            </a:r>
            <a:endParaRPr lang="en-US" sz="2500" b="0" dirty="0"/>
          </a:p>
          <a:p>
            <a:endParaRPr lang="en-IN" b="0" dirty="0"/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76632DCF-444C-4AB9-A9A9-24B78326A786}"/>
              </a:ext>
            </a:extLst>
          </p:cNvPr>
          <p:cNvSpPr txBox="1">
            <a:spLocks/>
          </p:cNvSpPr>
          <p:nvPr/>
        </p:nvSpPr>
        <p:spPr>
          <a:xfrm>
            <a:off x="3574384" y="1783000"/>
            <a:ext cx="2382924" cy="58453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US" sz="2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Nadeem</a:t>
            </a:r>
          </a:p>
          <a:p>
            <a:pPr>
              <a:spcBef>
                <a:spcPts val="300"/>
              </a:spcBef>
            </a:pPr>
            <a:r>
              <a:rPr lang="en-US" sz="1200" b="0" dirty="0"/>
              <a:t>Roll No. 214G1A3257</a:t>
            </a:r>
          </a:p>
        </p:txBody>
      </p:sp>
      <p:sp>
        <p:nvSpPr>
          <p:cNvPr id="13" name="Subtitle 11">
            <a:extLst>
              <a:ext uri="{FF2B5EF4-FFF2-40B4-BE49-F238E27FC236}">
                <a16:creationId xmlns:a16="http://schemas.microsoft.com/office/drawing/2014/main" id="{F3C3CADE-4DE0-4FED-8446-912E92DB0292}"/>
              </a:ext>
            </a:extLst>
          </p:cNvPr>
          <p:cNvSpPr txBox="1">
            <a:spLocks/>
          </p:cNvSpPr>
          <p:nvPr/>
        </p:nvSpPr>
        <p:spPr>
          <a:xfrm>
            <a:off x="8617598" y="1783000"/>
            <a:ext cx="2382924" cy="58453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US" sz="2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 Charan Kumar</a:t>
            </a:r>
          </a:p>
          <a:p>
            <a:pPr>
              <a:spcBef>
                <a:spcPts val="300"/>
              </a:spcBef>
            </a:pPr>
            <a:r>
              <a:rPr lang="en-US" sz="1200" b="0" dirty="0"/>
              <a:t>Roll No. 214G1A3212</a:t>
            </a:r>
          </a:p>
        </p:txBody>
      </p:sp>
      <p:sp>
        <p:nvSpPr>
          <p:cNvPr id="14" name="Subtitle 11">
            <a:extLst>
              <a:ext uri="{FF2B5EF4-FFF2-40B4-BE49-F238E27FC236}">
                <a16:creationId xmlns:a16="http://schemas.microsoft.com/office/drawing/2014/main" id="{7DD300AE-D81E-4AC8-BC57-566B57D6C660}"/>
              </a:ext>
            </a:extLst>
          </p:cNvPr>
          <p:cNvSpPr txBox="1">
            <a:spLocks/>
          </p:cNvSpPr>
          <p:nvPr/>
        </p:nvSpPr>
        <p:spPr>
          <a:xfrm>
            <a:off x="1026367" y="1783000"/>
            <a:ext cx="2548017" cy="58453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US" sz="2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 Harshavardhan</a:t>
            </a:r>
          </a:p>
          <a:p>
            <a:pPr>
              <a:spcBef>
                <a:spcPts val="300"/>
              </a:spcBef>
            </a:pPr>
            <a:r>
              <a:rPr lang="en-US" sz="1200" b="0" dirty="0"/>
              <a:t>Roll No. 224G5A3206</a:t>
            </a:r>
          </a:p>
          <a:p>
            <a:pPr>
              <a:spcBef>
                <a:spcPts val="300"/>
              </a:spcBef>
            </a:pPr>
            <a:endParaRPr lang="en-US" sz="1200" b="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2213882-6464-4A96-96D5-EA4F95F404DE}"/>
              </a:ext>
            </a:extLst>
          </p:cNvPr>
          <p:cNvSpPr/>
          <p:nvPr/>
        </p:nvSpPr>
        <p:spPr>
          <a:xfrm>
            <a:off x="755009" y="335271"/>
            <a:ext cx="10528183" cy="857864"/>
          </a:xfrm>
          <a:prstGeom prst="roundRect">
            <a:avLst/>
          </a:pr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Deepfake Detection for Identifying Machine-generated Tweets Using NLP And DL</a:t>
            </a:r>
            <a:endParaRPr lang="en-IN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50F0CE-B0FB-48DA-AD7D-E96A1D3BC2A8}"/>
              </a:ext>
            </a:extLst>
          </p:cNvPr>
          <p:cNvSpPr/>
          <p:nvPr/>
        </p:nvSpPr>
        <p:spPr>
          <a:xfrm>
            <a:off x="2714840" y="1261696"/>
            <a:ext cx="6762303" cy="3380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</a:pPr>
            <a:r>
              <a:rPr lang="en-IN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4CA60F-9532-4FDC-90D1-528E33CD32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2105" y="3477046"/>
            <a:ext cx="1843673" cy="1685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500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D3944A0-0FCB-46FB-9E73-72A37CA2B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505" y="1097279"/>
            <a:ext cx="11473091" cy="5350174"/>
          </a:xfrm>
        </p:spPr>
        <p:txBody>
          <a:bodyPr>
            <a:noAutofit/>
          </a:bodyPr>
          <a:lstStyle/>
          <a:p>
            <a:pPr marL="457200" indent="0">
              <a:buNone/>
            </a:pPr>
            <a:r>
              <a:rPr lang="en-US" sz="2400" dirty="0"/>
              <a:t>Recent advancements in natural language generation have provided powerful tools capable of manipulating public opinion on social media platforms. Text-generative models now help people to create realistic deepfake posts using bots, influencing public conversations. This research focuses on detecting machine-generated text, specifically on platforms like Twitter. To achieve this goal, we propose a deep learning-based approach using a Convolutional Neural Network (CNN) architecture combined with </a:t>
            </a:r>
            <a:r>
              <a:rPr lang="en-US" sz="2400" dirty="0" err="1"/>
              <a:t>FastText</a:t>
            </a:r>
            <a:r>
              <a:rPr lang="en-US" sz="2400" dirty="0"/>
              <a:t> word embeddings to classify tweets as either human-generated or bot-generated. The proposed method was compared against several reports of baseline machine learning models. These baselines incorporated features such as Term Frequency (TF), Term Frequency-Inverse Document Frequency (TF-IDF), </a:t>
            </a:r>
            <a:r>
              <a:rPr lang="en-US" sz="2400" dirty="0" err="1"/>
              <a:t>FastText</a:t>
            </a:r>
            <a:r>
              <a:rPr lang="en-US" sz="2400" dirty="0"/>
              <a:t>, and </a:t>
            </a:r>
            <a:r>
              <a:rPr lang="en-US" sz="2400" dirty="0" err="1"/>
              <a:t>FastText</a:t>
            </a:r>
            <a:r>
              <a:rPr lang="en-US" sz="2400" dirty="0"/>
              <a:t> </a:t>
            </a:r>
            <a:r>
              <a:rPr lang="en-US" sz="2400" dirty="0" err="1"/>
              <a:t>subword</a:t>
            </a:r>
            <a:r>
              <a:rPr lang="en-US" sz="2400" dirty="0"/>
              <a:t> embeddings. The results of the study demonstrated the superior performance of the proposed CNN model with </a:t>
            </a:r>
            <a:r>
              <a:rPr lang="en-US" sz="2400" dirty="0" err="1"/>
              <a:t>FastText</a:t>
            </a:r>
            <a:r>
              <a:rPr lang="en-US" sz="2400" dirty="0"/>
              <a:t> embeddings, highlighting its capability to accurately detect deepfake tweets. This research highlights the value of deep learning and advanced embeddings in addressing the rising problem of machine-generated content, contributing to tools that help protect public discourse and combat misinformation online and ensuring the integrity of online interactions.</a:t>
            </a:r>
          </a:p>
          <a:p>
            <a:pPr marL="45720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51120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92D7B-CF16-46D8-8243-8661747A4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CA917-AD8E-4861-804D-4A5A6A205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61963" indent="-461963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dirty="0"/>
              <a:t>Abstract</a:t>
            </a:r>
          </a:p>
          <a:p>
            <a:pPr marL="461963" indent="-461963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dirty="0"/>
              <a:t>Introduction</a:t>
            </a:r>
          </a:p>
          <a:p>
            <a:pPr marL="461963" indent="-461963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dirty="0"/>
              <a:t>Literature survey </a:t>
            </a:r>
          </a:p>
          <a:p>
            <a:pPr marL="461963" indent="-461963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dirty="0"/>
              <a:t>Proposed Work </a:t>
            </a:r>
          </a:p>
          <a:p>
            <a:pPr marL="461963" indent="-461963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dirty="0"/>
              <a:t>References</a:t>
            </a:r>
          </a:p>
          <a:p>
            <a:pPr marL="461963" indent="-461963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dirty="0"/>
              <a:t>GitHub Link</a:t>
            </a:r>
          </a:p>
          <a:p>
            <a:pPr marL="461963" indent="-461963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dirty="0"/>
              <a:t>Queries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2094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232F6-FBCB-466E-BBD9-82200D06C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AC86CD8-CB6D-4B54-951B-2D0FC1B87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505" y="1097279"/>
            <a:ext cx="11687695" cy="5294190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1" dirty="0"/>
              <a:t>Overview of Social Media Challenges: </a:t>
            </a:r>
            <a:r>
              <a:rPr lang="en-US" sz="2400" dirty="0"/>
              <a:t>Social media connects people but has also become a platform for misinformation, spread using bots and deepfake content like AI-generated text, audio, and videos.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1" dirty="0"/>
              <a:t>Emergence of Deepfake Texts: </a:t>
            </a:r>
            <a:r>
              <a:rPr lang="en-US" sz="2400" dirty="0"/>
              <a:t>Deepfake, combining "deep learning" and "fake," refers to deceptive AI-generated multimedia, raising concerns about its misuse in politics and public opinion.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1" dirty="0"/>
              <a:t>Role of Generative Models: </a:t>
            </a:r>
            <a:r>
              <a:rPr lang="en-US" sz="2400" dirty="0"/>
              <a:t>Advanced models like GPT-2 and GPT-3 make it difficult to differentiate human-written from machine-generated content, especially in short texts like tweets.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1" dirty="0"/>
              <a:t>Research Gap and Dataset: </a:t>
            </a:r>
            <a:r>
              <a:rPr lang="en-US" sz="2400" dirty="0"/>
              <a:t>While deepfake detection in long text is studied, detecting bot-generated tweets is less explored. The </a:t>
            </a:r>
            <a:r>
              <a:rPr lang="en-US" sz="2400" dirty="0" err="1"/>
              <a:t>Tweepfake</a:t>
            </a:r>
            <a:r>
              <a:rPr lang="en-US" sz="2400" dirty="0"/>
              <a:t> dataset provides human and bot-generated tweets for this study.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1" dirty="0"/>
              <a:t>The Approach: </a:t>
            </a:r>
            <a:r>
              <a:rPr lang="en-US" sz="2400" dirty="0"/>
              <a:t>This project uses a CNN with </a:t>
            </a:r>
            <a:r>
              <a:rPr lang="en-US" sz="2400" dirty="0" err="1"/>
              <a:t>FastText</a:t>
            </a:r>
            <a:r>
              <a:rPr lang="en-US" sz="2400" dirty="0"/>
              <a:t> embeddings to reliably classify tweets as human- or bot-generated, addressing the deepfake detection challenge.</a:t>
            </a:r>
          </a:p>
        </p:txBody>
      </p:sp>
    </p:spTree>
    <p:extLst>
      <p:ext uri="{BB962C8B-B14F-4D97-AF65-F5344CB8AC3E}">
        <p14:creationId xmlns:p14="http://schemas.microsoft.com/office/powerpoint/2010/main" val="316781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72129-C0E4-B09F-E5FE-24B4505D7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84A3A-AA04-C9CD-EC13-006F7727D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dirty="0"/>
              <a:t>Literature Survey</a:t>
            </a: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880E089-518C-BBC7-4C6B-ECD9708760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313435"/>
              </p:ext>
            </p:extLst>
          </p:nvPr>
        </p:nvGraphicFramePr>
        <p:xfrm>
          <a:off x="156543" y="1087120"/>
          <a:ext cx="116280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260">
                  <a:extLst>
                    <a:ext uri="{9D8B030D-6E8A-4147-A177-3AD203B41FA5}">
                      <a16:colId xmlns:a16="http://schemas.microsoft.com/office/drawing/2014/main" val="1877128159"/>
                    </a:ext>
                  </a:extLst>
                </a:gridCol>
                <a:gridCol w="2006083">
                  <a:extLst>
                    <a:ext uri="{9D8B030D-6E8A-4147-A177-3AD203B41FA5}">
                      <a16:colId xmlns:a16="http://schemas.microsoft.com/office/drawing/2014/main" val="2353965450"/>
                    </a:ext>
                  </a:extLst>
                </a:gridCol>
                <a:gridCol w="1520890">
                  <a:extLst>
                    <a:ext uri="{9D8B030D-6E8A-4147-A177-3AD203B41FA5}">
                      <a16:colId xmlns:a16="http://schemas.microsoft.com/office/drawing/2014/main" val="4271515949"/>
                    </a:ext>
                  </a:extLst>
                </a:gridCol>
                <a:gridCol w="1539551">
                  <a:extLst>
                    <a:ext uri="{9D8B030D-6E8A-4147-A177-3AD203B41FA5}">
                      <a16:colId xmlns:a16="http://schemas.microsoft.com/office/drawing/2014/main" val="919807571"/>
                    </a:ext>
                  </a:extLst>
                </a:gridCol>
                <a:gridCol w="1894114">
                  <a:extLst>
                    <a:ext uri="{9D8B030D-6E8A-4147-A177-3AD203B41FA5}">
                      <a16:colId xmlns:a16="http://schemas.microsoft.com/office/drawing/2014/main" val="2381179260"/>
                    </a:ext>
                  </a:extLst>
                </a:gridCol>
                <a:gridCol w="2202024">
                  <a:extLst>
                    <a:ext uri="{9D8B030D-6E8A-4147-A177-3AD203B41FA5}">
                      <a16:colId xmlns:a16="http://schemas.microsoft.com/office/drawing/2014/main" val="1551066819"/>
                    </a:ext>
                  </a:extLst>
                </a:gridCol>
                <a:gridCol w="1950098">
                  <a:extLst>
                    <a:ext uri="{9D8B030D-6E8A-4147-A177-3AD203B41FA5}">
                      <a16:colId xmlns:a16="http://schemas.microsoft.com/office/drawing/2014/main" val="652884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Journal Name &amp;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Methodology Adapted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Key Findings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3324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Tweepfake</a:t>
                      </a:r>
                      <a:r>
                        <a:rPr lang="en-US" dirty="0"/>
                        <a:t>: About detecting deepfake tweets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Tiziano Fagni, Fabrizio Falchi, Margherita Gambini, et al.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PLOS One, 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Applied machine learning models (e.g., BERT) to classify AI-generated tweets.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High accuracy in detecting fake tweets, highlighting model potential.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Dataset bias due to limited diversity in tweet samples.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3579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ChatGPT or human? Detect and explain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Sandra </a:t>
                      </a:r>
                      <a:r>
                        <a:rPr lang="en-US" dirty="0" err="1"/>
                        <a:t>Mitrović</a:t>
                      </a:r>
                      <a:r>
                        <a:rPr lang="en-US" dirty="0"/>
                        <a:t>, Davide </a:t>
                      </a:r>
                      <a:r>
                        <a:rPr lang="en-US" dirty="0" err="1"/>
                        <a:t>Andreoletti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Omran</a:t>
                      </a:r>
                      <a:r>
                        <a:rPr lang="en-US" dirty="0"/>
                        <a:t> Ayoub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arXiv</a:t>
                      </a:r>
                      <a:r>
                        <a:rPr lang="en-US" dirty="0"/>
                        <a:t> preprint,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Explored linguistic and stylistic patterns using transformer-based models for distinguishing ChatGPT-generated text from human text.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Effective in explaining why specific outputs are machine-generated.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Performance is model-dependent and lacks robustness to fine-tuned generative models.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7871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9021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4B1F9-5637-475E-835E-7AA9BC8EA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dirty="0"/>
              <a:t>Literature Survey contd..</a:t>
            </a: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3724B96-9C9C-BF71-74CF-E01F653989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22773"/>
              </p:ext>
            </p:extLst>
          </p:nvPr>
        </p:nvGraphicFramePr>
        <p:xfrm>
          <a:off x="156543" y="1087120"/>
          <a:ext cx="1162802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260">
                  <a:extLst>
                    <a:ext uri="{9D8B030D-6E8A-4147-A177-3AD203B41FA5}">
                      <a16:colId xmlns:a16="http://schemas.microsoft.com/office/drawing/2014/main" val="1877128159"/>
                    </a:ext>
                  </a:extLst>
                </a:gridCol>
                <a:gridCol w="1996752">
                  <a:extLst>
                    <a:ext uri="{9D8B030D-6E8A-4147-A177-3AD203B41FA5}">
                      <a16:colId xmlns:a16="http://schemas.microsoft.com/office/drawing/2014/main" val="2353965450"/>
                    </a:ext>
                  </a:extLst>
                </a:gridCol>
                <a:gridCol w="1530221">
                  <a:extLst>
                    <a:ext uri="{9D8B030D-6E8A-4147-A177-3AD203B41FA5}">
                      <a16:colId xmlns:a16="http://schemas.microsoft.com/office/drawing/2014/main" val="4271515949"/>
                    </a:ext>
                  </a:extLst>
                </a:gridCol>
                <a:gridCol w="1539551">
                  <a:extLst>
                    <a:ext uri="{9D8B030D-6E8A-4147-A177-3AD203B41FA5}">
                      <a16:colId xmlns:a16="http://schemas.microsoft.com/office/drawing/2014/main" val="919807571"/>
                    </a:ext>
                  </a:extLst>
                </a:gridCol>
                <a:gridCol w="1894114">
                  <a:extLst>
                    <a:ext uri="{9D8B030D-6E8A-4147-A177-3AD203B41FA5}">
                      <a16:colId xmlns:a16="http://schemas.microsoft.com/office/drawing/2014/main" val="2381179260"/>
                    </a:ext>
                  </a:extLst>
                </a:gridCol>
                <a:gridCol w="2202024">
                  <a:extLst>
                    <a:ext uri="{9D8B030D-6E8A-4147-A177-3AD203B41FA5}">
                      <a16:colId xmlns:a16="http://schemas.microsoft.com/office/drawing/2014/main" val="1551066819"/>
                    </a:ext>
                  </a:extLst>
                </a:gridCol>
                <a:gridCol w="1950098">
                  <a:extLst>
                    <a:ext uri="{9D8B030D-6E8A-4147-A177-3AD203B41FA5}">
                      <a16:colId xmlns:a16="http://schemas.microsoft.com/office/drawing/2014/main" val="652884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Journal Name &amp;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Methodology Adapted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Key Findings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3324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Big data analytics: Challenges and applications for text, audio, video, and social media data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J. P. Verma, S. Agrawal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Int. J. Soft </a:t>
                      </a:r>
                      <a:r>
                        <a:rPr lang="en-US" dirty="0" err="1"/>
                        <a:t>Comput</a:t>
                      </a:r>
                      <a:r>
                        <a:rPr lang="en-US" dirty="0"/>
                        <a:t>., </a:t>
                      </a:r>
                      <a:r>
                        <a:rPr lang="en-US" dirty="0" err="1"/>
                        <a:t>Artif</a:t>
                      </a:r>
                      <a:r>
                        <a:rPr lang="en-US" dirty="0"/>
                        <a:t>. </a:t>
                      </a:r>
                      <a:r>
                        <a:rPr lang="en-US" dirty="0" err="1"/>
                        <a:t>Intell</a:t>
                      </a:r>
                      <a:r>
                        <a:rPr lang="en-US" dirty="0"/>
                        <a:t>. Appl., vol. 5, pp. 41–51, Feb. 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Explored analytics challenges for unstructured data; focused on scalability and real-time processing.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Identified key analytics methods across text, audio, video, and social media data.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Limited coverage of deep learning techniques for advanced analytics.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89854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Deepfake detection using deep learning methods: A systematic and comprehensive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A. </a:t>
                      </a:r>
                      <a:r>
                        <a:rPr lang="en-US" dirty="0" err="1"/>
                        <a:t>Heidari</a:t>
                      </a:r>
                      <a:r>
                        <a:rPr lang="en-US" dirty="0"/>
                        <a:t>, N. Jafari </a:t>
                      </a:r>
                      <a:r>
                        <a:rPr lang="en-US" dirty="0" err="1"/>
                        <a:t>Navimipour</a:t>
                      </a:r>
                      <a:r>
                        <a:rPr lang="en-US" dirty="0"/>
                        <a:t>, H. Dag, M. Unal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WIREs Data Mining and Knowledge Discovery, vol. 14, no. 2, pp. e1520,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Systematic review of deep learning-based deepfake detection approaches across various domains.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Highlighted effectiveness of CNNs, GANs, and transformers for multimedia deepfake detection.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Lacks a unified framework for practical implementation of detection methods.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62207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1553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3C8ED-E8F7-40CD-8D41-BF01C7A78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System</a:t>
            </a:r>
            <a:endParaRPr lang="en-IN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798DA22-7CB2-43B1-8B38-789CEC2848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505" y="1097279"/>
            <a:ext cx="11779135" cy="5394960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b="1" dirty="0"/>
              <a:t>Data Collection and Preprocessing:</a:t>
            </a:r>
          </a:p>
          <a:p>
            <a:pPr marL="0" indent="0">
              <a:buNone/>
            </a:pPr>
            <a:r>
              <a:rPr lang="en-US" dirty="0"/>
              <a:t>A labeled dataset containing tweets from human and bot accounts is sourced from the </a:t>
            </a:r>
            <a:r>
              <a:rPr lang="en-US" dirty="0" err="1"/>
              <a:t>TweepFake</a:t>
            </a:r>
            <a:r>
              <a:rPr lang="en-US" dirty="0"/>
              <a:t> dataset, which consists of:</a:t>
            </a:r>
          </a:p>
          <a:p>
            <a:pPr marL="0" indent="0">
              <a:buNone/>
            </a:pPr>
            <a:r>
              <a:rPr lang="en-US" dirty="0"/>
              <a:t>25,572 tweets classified into human and bot-generated content: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Humans: 17 accounts, 12,786 tweets.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GPT-2: 11 accounts, 3,861 tweets.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RNN: 7 accounts, 4,181 tweets.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Other Bots: 5 accounts, 4,876 tweets.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dataset is split into 80:20 ratios for training and testing.</a:t>
            </a:r>
          </a:p>
        </p:txBody>
      </p:sp>
    </p:spTree>
    <p:extLst>
      <p:ext uri="{BB962C8B-B14F-4D97-AF65-F5344CB8AC3E}">
        <p14:creationId xmlns:p14="http://schemas.microsoft.com/office/powerpoint/2010/main" val="3465084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1CE07-6829-5B50-4DB0-EAFDE742C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002F2-D870-8531-1F9A-BB011D7F8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System contd..</a:t>
            </a:r>
            <a:endParaRPr lang="en-IN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FE1A35A-9E34-9158-E8D5-705BFB1E4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505" y="1097279"/>
            <a:ext cx="11779135" cy="5394960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b="1" dirty="0"/>
              <a:t>Text Vectorization Using </a:t>
            </a:r>
            <a:r>
              <a:rPr lang="en-US" b="1" dirty="0" err="1"/>
              <a:t>FastText</a:t>
            </a:r>
            <a:r>
              <a:rPr lang="en-US" b="1" dirty="0"/>
              <a:t> Word Embedding: </a:t>
            </a:r>
          </a:p>
          <a:p>
            <a:pPr marL="0" indent="0">
              <a:buNone/>
            </a:pPr>
            <a:r>
              <a:rPr lang="en-US" dirty="0"/>
              <a:t>Unlike traditional word embeddings (e.g., Word2Vec) that treat each word as a single unit, </a:t>
            </a:r>
            <a:r>
              <a:rPr lang="en-US" dirty="0" err="1"/>
              <a:t>FastText</a:t>
            </a:r>
            <a:r>
              <a:rPr lang="en-US" dirty="0"/>
              <a:t> represents words as a composition of </a:t>
            </a:r>
            <a:r>
              <a:rPr lang="en-US" dirty="0" err="1"/>
              <a:t>subword</a:t>
            </a:r>
            <a:r>
              <a:rPr lang="en-US" dirty="0"/>
              <a:t> n-grams.</a:t>
            </a:r>
          </a:p>
          <a:p>
            <a:pPr marL="0" indent="0">
              <a:buNone/>
            </a:pPr>
            <a:endParaRPr lang="en-US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 sentence "Deepfake detection is critical" becomes tokens [Deepfake, detection, is, critical]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Each token is broken down into overlapping character n-grams (e.g., "crit" and "</a:t>
            </a:r>
            <a:r>
              <a:rPr lang="en-US" dirty="0" err="1"/>
              <a:t>ical</a:t>
            </a:r>
            <a:r>
              <a:rPr lang="en-US" dirty="0"/>
              <a:t>" from "critical")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The embeddings of all </a:t>
            </a:r>
            <a:r>
              <a:rPr lang="en-US" dirty="0" err="1"/>
              <a:t>subwords</a:t>
            </a:r>
            <a:r>
              <a:rPr lang="en-US" dirty="0"/>
              <a:t> in a word are combined (e.g., averaged or summed) to create the final vector for the word.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After each word in a sentence is vectorized, the embeddings are aggregated to form the final sentence-level representation.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146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81A86-31A8-BB66-E05C-42CD730A0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5C5C8-1D51-B616-BA4E-F5E0F239F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3428"/>
            <a:ext cx="12192000" cy="714892"/>
          </a:xfrm>
        </p:spPr>
        <p:txBody>
          <a:bodyPr/>
          <a:lstStyle/>
          <a:p>
            <a:r>
              <a:rPr lang="en-US" dirty="0"/>
              <a:t>Proposed System contd..</a:t>
            </a:r>
            <a:endParaRPr lang="en-IN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397AD86-05C2-EE5C-A7BD-72EE18F50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505" y="1097279"/>
            <a:ext cx="11779135" cy="5394960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CNN Model Architecture: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Input Layer: </a:t>
            </a:r>
            <a:r>
              <a:rPr lang="en-US" dirty="0"/>
              <a:t>The vectorized tweets obtained using </a:t>
            </a:r>
            <a:r>
              <a:rPr lang="en-US" dirty="0" err="1"/>
              <a:t>FastText</a:t>
            </a:r>
            <a:r>
              <a:rPr lang="en-US" dirty="0"/>
              <a:t> word embedding.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Convolutional Layers: </a:t>
            </a:r>
            <a:r>
              <a:rPr lang="en-US" dirty="0"/>
              <a:t>Three layers are used. Outputs from these layers represent the patterns or relationships learned by the CNN.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Activation Function</a:t>
            </a:r>
            <a:r>
              <a:rPr lang="en-US" dirty="0"/>
              <a:t>: </a:t>
            </a:r>
            <a:r>
              <a:rPr lang="en-US" dirty="0" err="1"/>
              <a:t>ReLU</a:t>
            </a:r>
            <a:r>
              <a:rPr lang="en-US" dirty="0"/>
              <a:t> is used to introduce non-linearity.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Pooling Layers</a:t>
            </a:r>
            <a:r>
              <a:rPr lang="en-US" dirty="0"/>
              <a:t>: Max pooling is applied to prevent over fitting.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Flattening:</a:t>
            </a:r>
            <a:r>
              <a:rPr lang="en-US" dirty="0"/>
              <a:t> The final pooled feature maps are flattened into a 1D vector.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Fully Connected Layer: </a:t>
            </a:r>
            <a:r>
              <a:rPr lang="en-US" dirty="0"/>
              <a:t>Combines features, learns the optimal boundaries.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Output Layer:</a:t>
            </a:r>
            <a:r>
              <a:rPr lang="en-US" dirty="0"/>
              <a:t> Produce probabilities for each class </a:t>
            </a:r>
            <a:r>
              <a:rPr lang="en-US" sz="2400" dirty="0"/>
              <a:t>(e.g., human vs. bot-generated).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0698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8890D-A0F5-76AA-12D0-C9416ACB9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F5660-8FD3-8984-3C76-C655394C4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System contd..</a:t>
            </a:r>
            <a:endParaRPr lang="en-IN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9D518C-08CD-86A3-39B9-4141780F0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505" y="1097279"/>
            <a:ext cx="11779135" cy="5394960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Model Training and Evaluation:</a:t>
            </a:r>
          </a:p>
          <a:p>
            <a:pPr marL="0" indent="0">
              <a:buNone/>
            </a:pPr>
            <a:r>
              <a:rPr lang="en-US" dirty="0"/>
              <a:t>The CNN model is trained using the processed and vectorized data.</a:t>
            </a:r>
          </a:p>
          <a:p>
            <a:pPr marL="0" indent="0">
              <a:buNone/>
            </a:pPr>
            <a:r>
              <a:rPr lang="en-US" dirty="0"/>
              <a:t>Evaluation metrics are used to measure model performance, which include: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Accuracy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Precision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Recall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F1-Score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288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71C01-5208-489A-A3A6-AF3CB24A4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3428"/>
            <a:ext cx="12192000" cy="714892"/>
          </a:xfrm>
        </p:spPr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9AA8B-A301-49BF-9DA8-22F614053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77850" indent="-577850">
              <a:lnSpc>
                <a:spcPct val="100000"/>
              </a:lnSpc>
              <a:buNone/>
            </a:pPr>
            <a:r>
              <a:rPr lang="en-IN" sz="2600" dirty="0"/>
              <a:t>[1]. T. </a:t>
            </a:r>
            <a:r>
              <a:rPr lang="en-IN" sz="2600" dirty="0" err="1"/>
              <a:t>Fagni</a:t>
            </a:r>
            <a:r>
              <a:rPr lang="en-IN" sz="2600" dirty="0"/>
              <a:t>, F. Falchi, and M. Gambini, “</a:t>
            </a:r>
            <a:r>
              <a:rPr lang="en-IN" sz="2600" dirty="0" err="1"/>
              <a:t>Tweepfake</a:t>
            </a:r>
            <a:r>
              <a:rPr lang="en-IN" sz="2600" dirty="0"/>
              <a:t>: About detecting deepfake tweets,” PLOS One, vol. 16, pp. 1–20, Jan. 2021.</a:t>
            </a:r>
          </a:p>
          <a:p>
            <a:pPr marL="577850" indent="-577850">
              <a:lnSpc>
                <a:spcPct val="100000"/>
              </a:lnSpc>
              <a:buNone/>
            </a:pPr>
            <a:r>
              <a:rPr lang="en-IN" sz="2600" dirty="0"/>
              <a:t>[2]. S. </a:t>
            </a:r>
            <a:r>
              <a:rPr lang="en-IN" sz="2600" dirty="0" err="1"/>
              <a:t>Mitrović</a:t>
            </a:r>
            <a:r>
              <a:rPr lang="en-IN" sz="2600" dirty="0"/>
              <a:t>, D. </a:t>
            </a:r>
            <a:r>
              <a:rPr lang="en-IN" sz="2600" dirty="0" err="1"/>
              <a:t>Andreoletti</a:t>
            </a:r>
            <a:r>
              <a:rPr lang="en-IN" sz="2600" dirty="0"/>
              <a:t>, and O. Ayoub, “ChatGPT or human? Detect and explain,” </a:t>
            </a:r>
            <a:r>
              <a:rPr lang="en-IN" sz="2600" dirty="0" err="1"/>
              <a:t>arXiv</a:t>
            </a:r>
            <a:r>
              <a:rPr lang="en-IN" sz="2600" dirty="0"/>
              <a:t> preprint, vol. abs/2301.00145, Jan. 2023.</a:t>
            </a:r>
          </a:p>
          <a:p>
            <a:pPr marL="577850" indent="-577850">
              <a:lnSpc>
                <a:spcPct val="100000"/>
              </a:lnSpc>
              <a:buNone/>
            </a:pPr>
            <a:r>
              <a:rPr lang="en-IN" sz="2600" dirty="0"/>
              <a:t>[3]. R. Vaibhav, R. Furqan, A. Aashir, P. B. Washington, E. Lee, and A. Imran, “Deepfake tweets classification using stacked Bi-LSTM and word embeddings,” </a:t>
            </a:r>
            <a:r>
              <a:rPr lang="en-IN" sz="2600" dirty="0" err="1"/>
              <a:t>PeerJ</a:t>
            </a:r>
            <a:r>
              <a:rPr lang="en-IN" sz="2600" dirty="0"/>
              <a:t> </a:t>
            </a:r>
            <a:r>
              <a:rPr lang="en-IN" sz="2600" dirty="0" err="1"/>
              <a:t>Comput</a:t>
            </a:r>
            <a:r>
              <a:rPr lang="en-IN" sz="2600" dirty="0"/>
              <a:t>. Sci., vol. 7, pp. e745, Dec. 2021.</a:t>
            </a:r>
          </a:p>
          <a:p>
            <a:pPr marL="577850" indent="-577850">
              <a:lnSpc>
                <a:spcPct val="100000"/>
              </a:lnSpc>
              <a:buNone/>
            </a:pPr>
            <a:r>
              <a:rPr lang="en-IN" sz="2600" dirty="0"/>
              <a:t>[4]. A. </a:t>
            </a:r>
            <a:r>
              <a:rPr lang="en-IN" sz="2600" dirty="0" err="1"/>
              <a:t>Heidari</a:t>
            </a:r>
            <a:r>
              <a:rPr lang="en-IN" sz="2600" dirty="0"/>
              <a:t>, N. Jafari </a:t>
            </a:r>
            <a:r>
              <a:rPr lang="en-IN" sz="2600" dirty="0" err="1"/>
              <a:t>Navimipour</a:t>
            </a:r>
            <a:r>
              <a:rPr lang="en-IN" sz="2600" dirty="0"/>
              <a:t>, H. Dag, and M. Unal, “Deepfake detection using deep learning methods: A systematic and comprehensive review,” WIREs Data Mining and Knowledge Discovery, vol. 14, no. 2, pp. e1520, 2024.</a:t>
            </a:r>
          </a:p>
        </p:txBody>
      </p:sp>
    </p:spTree>
    <p:extLst>
      <p:ext uri="{BB962C8B-B14F-4D97-AF65-F5344CB8AC3E}">
        <p14:creationId xmlns:p14="http://schemas.microsoft.com/office/powerpoint/2010/main" val="788754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3C8ED-E8F7-40CD-8D41-BF01C7A78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b="0" strike="noStrike" spc="-1" dirty="0">
                <a:solidFill>
                  <a:srgbClr val="FFFFFF"/>
                </a:solidFill>
                <a:latin typeface="Times New Roman"/>
              </a:rPr>
              <a:t>Git Hub Dashboard</a:t>
            </a: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0230333-6268-988A-D03E-098BB3A2845B}"/>
              </a:ext>
            </a:extLst>
          </p:cNvPr>
          <p:cNvSpPr txBox="1">
            <a:spLocks/>
          </p:cNvSpPr>
          <p:nvPr/>
        </p:nvSpPr>
        <p:spPr>
          <a:xfrm>
            <a:off x="199505" y="5497285"/>
            <a:ext cx="11779135" cy="9949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altLang="en-US" dirty="0">
              <a:sym typeface="+mn-ea"/>
            </a:endParaRPr>
          </a:p>
          <a:p>
            <a:pPr marL="0" indent="0">
              <a:buNone/>
            </a:pPr>
            <a:r>
              <a:rPr lang="en-IN" altLang="en-US" dirty="0">
                <a:sym typeface="+mn-ea"/>
              </a:rPr>
              <a:t>GitHub link : </a:t>
            </a:r>
            <a:r>
              <a:rPr lang="en-IN" altLang="en-US" dirty="0">
                <a:sym typeface="+mn-ea"/>
                <a:hlinkClick r:id="rId2"/>
              </a:rPr>
              <a:t>https://github.com/k-venky/CSD_2021-25_A-15</a:t>
            </a:r>
            <a:endParaRPr lang="en-US" dirty="0"/>
          </a:p>
        </p:txBody>
      </p:sp>
      <p:pic>
        <p:nvPicPr>
          <p:cNvPr id="8" name="Content Placeholder 7" descr="A screenshot of a computer&#10;&#10;Description automatically generated">
            <a:extLst>
              <a:ext uri="{FF2B5EF4-FFF2-40B4-BE49-F238E27FC236}">
                <a16:creationId xmlns:a16="http://schemas.microsoft.com/office/drawing/2014/main" id="{7DDF9850-D3B5-4817-A8EB-C94C601BF9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9740" y="1047758"/>
            <a:ext cx="8632520" cy="4855793"/>
          </a:xfrm>
        </p:spPr>
      </p:pic>
    </p:spTree>
    <p:extLst>
      <p:ext uri="{BB962C8B-B14F-4D97-AF65-F5344CB8AC3E}">
        <p14:creationId xmlns:p14="http://schemas.microsoft.com/office/powerpoint/2010/main" val="3279406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53613" y="2375670"/>
            <a:ext cx="6920484" cy="159511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9600" i="1" dirty="0">
                <a:ln w="0"/>
                <a:solidFill>
                  <a:srgbClr val="FF66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Any Queries?</a:t>
            </a:r>
            <a:endParaRPr lang="en-IN" sz="9600" dirty="0">
              <a:ln w="0"/>
              <a:solidFill>
                <a:srgbClr val="FF66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513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53613" y="2375670"/>
            <a:ext cx="6603859" cy="159511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9600" i="1" dirty="0">
                <a:ln w="0"/>
                <a:solidFill>
                  <a:srgbClr val="FF66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Thank You!!!</a:t>
            </a:r>
            <a:endParaRPr lang="en-IN" sz="9600" dirty="0">
              <a:ln w="0"/>
              <a:solidFill>
                <a:srgbClr val="FF66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49650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1272</TotalTime>
  <Words>1370</Words>
  <Application>Microsoft Office PowerPoint</Application>
  <PresentationFormat>Widescreen</PresentationFormat>
  <Paragraphs>123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Courier New</vt:lpstr>
      <vt:lpstr>Times New Roman</vt:lpstr>
      <vt:lpstr>Wingdings</vt:lpstr>
      <vt:lpstr>Custom Design</vt:lpstr>
      <vt:lpstr>PowerPoint Presentation</vt:lpstr>
      <vt:lpstr>Abstract</vt:lpstr>
      <vt:lpstr>Contents</vt:lpstr>
      <vt:lpstr>Introduction</vt:lpstr>
      <vt:lpstr>Literature Survey</vt:lpstr>
      <vt:lpstr>Literature Survey contd..</vt:lpstr>
      <vt:lpstr>Proposed System</vt:lpstr>
      <vt:lpstr>Proposed System contd..</vt:lpstr>
      <vt:lpstr>Proposed System contd..</vt:lpstr>
      <vt:lpstr>Proposed System contd..</vt:lpstr>
      <vt:lpstr>References</vt:lpstr>
      <vt:lpstr>Git Hub Dashboard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venkatesh k</dc:creator>
  <cp:lastModifiedBy>Nadeem Avulapalli</cp:lastModifiedBy>
  <cp:revision>126</cp:revision>
  <dcterms:created xsi:type="dcterms:W3CDTF">2019-06-11T05:35:51Z</dcterms:created>
  <dcterms:modified xsi:type="dcterms:W3CDTF">2025-04-09T05:21:04Z</dcterms:modified>
</cp:coreProperties>
</file>