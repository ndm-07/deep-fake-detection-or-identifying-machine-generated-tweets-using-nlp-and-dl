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5"/>
  </p:notesMasterIdLst>
  <p:handoutMasterIdLst>
    <p:handoutMasterId r:id="rId26"/>
  </p:handoutMasterIdLst>
  <p:sldIdLst>
    <p:sldId id="256" r:id="rId2"/>
    <p:sldId id="257" r:id="rId3"/>
    <p:sldId id="273" r:id="rId4"/>
    <p:sldId id="276" r:id="rId5"/>
    <p:sldId id="284" r:id="rId6"/>
    <p:sldId id="297" r:id="rId7"/>
    <p:sldId id="289" r:id="rId8"/>
    <p:sldId id="290" r:id="rId9"/>
    <p:sldId id="288" r:id="rId10"/>
    <p:sldId id="319" r:id="rId11"/>
    <p:sldId id="275" r:id="rId12"/>
    <p:sldId id="280" r:id="rId13"/>
    <p:sldId id="281" r:id="rId14"/>
    <p:sldId id="282" r:id="rId15"/>
    <p:sldId id="321" r:id="rId16"/>
    <p:sldId id="326" r:id="rId17"/>
    <p:sldId id="325" r:id="rId18"/>
    <p:sldId id="328" r:id="rId19"/>
    <p:sldId id="333" r:id="rId20"/>
    <p:sldId id="331" r:id="rId21"/>
    <p:sldId id="277" r:id="rId22"/>
    <p:sldId id="334"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67" y="806"/>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12-04-2025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12-04-2025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500" b="1" i="1" dirty="0">
                <a:solidFill>
                  <a:schemeClr val="bg1"/>
                </a:solidFill>
                <a:effectLst/>
                <a:latin typeface="Times New Roman" panose="02020603050405020304" pitchFamily="18" charset="0"/>
                <a:cs typeface="Times New Roman" panose="02020603050405020304" pitchFamily="18" charset="0"/>
              </a:rPr>
              <a:t>DEEPFAKE DETECTION FOR IDENTIFYING MACHINE GENERATED TWEETS USING NLP AND DL</a:t>
            </a: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A - 15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k-venky/CSD_2021-25_A-15"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a:spLocks/>
          </p:cNvSpPr>
          <p:nvPr/>
        </p:nvSpPr>
        <p:spPr>
          <a:xfrm>
            <a:off x="6095991"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E Madhuri</a:t>
            </a:r>
          </a:p>
          <a:p>
            <a:pPr>
              <a:spcBef>
                <a:spcPts val="300"/>
              </a:spcBef>
            </a:pPr>
            <a:r>
              <a:rPr lang="en-US" sz="1200" b="0" dirty="0"/>
              <a:t>Roll No. 214G1A3250</a:t>
            </a:r>
          </a:p>
        </p:txBody>
      </p:sp>
      <p:sp>
        <p:nvSpPr>
          <p:cNvPr id="6" name="Subtitle 11"/>
          <p:cNvSpPr txBox="1">
            <a:spLocks/>
          </p:cNvSpPr>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a:effectLst>
                  <a:outerShdw blurRad="38100" dist="38100" dir="2700000" algn="tl">
                    <a:srgbClr val="000000">
                      <a:alpha val="43137"/>
                    </a:srgbClr>
                  </a:outerShdw>
                </a:effectLst>
              </a:rPr>
              <a:t>Mrs. G. Shabana </a:t>
            </a:r>
            <a:endParaRPr lang="en-IN" sz="2400" b="0" dirty="0">
              <a:effectLst>
                <a:outerShdw blurRad="38100" dist="38100" dir="2700000" algn="tl">
                  <a:srgbClr val="000000">
                    <a:alpha val="43137"/>
                  </a:srgbClr>
                </a:outerShdw>
              </a:effectLst>
            </a:endParaRPr>
          </a:p>
          <a:p>
            <a:pPr>
              <a:spcBef>
                <a:spcPts val="200"/>
              </a:spcBef>
            </a:pPr>
            <a:r>
              <a:rPr lang="en-IN" sz="1400" b="0" dirty="0"/>
              <a:t>Assistant Professor</a:t>
            </a:r>
          </a:p>
        </p:txBody>
      </p:sp>
      <p:sp>
        <p:nvSpPr>
          <p:cNvPr id="7" name="Subtitle 11"/>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2024 - 2025</a:t>
            </a:r>
            <a:endParaRPr lang="en-US" sz="2500" b="0" dirty="0"/>
          </a:p>
          <a:p>
            <a:endParaRPr lang="en-IN" b="0" dirty="0"/>
          </a:p>
        </p:txBody>
      </p:sp>
      <p:sp>
        <p:nvSpPr>
          <p:cNvPr id="12" name="Subtitle 11">
            <a:extLst>
              <a:ext uri="{FF2B5EF4-FFF2-40B4-BE49-F238E27FC236}">
                <a16:creationId xmlns:a16="http://schemas.microsoft.com/office/drawing/2014/main" id="{76632DCF-444C-4AB9-A9A9-24B78326A786}"/>
              </a:ext>
            </a:extLst>
          </p:cNvPr>
          <p:cNvSpPr txBox="1">
            <a:spLocks/>
          </p:cNvSpPr>
          <p:nvPr/>
        </p:nvSpPr>
        <p:spPr>
          <a:xfrm>
            <a:off x="3574384"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 Nadeem</a:t>
            </a:r>
          </a:p>
          <a:p>
            <a:pPr>
              <a:spcBef>
                <a:spcPts val="300"/>
              </a:spcBef>
            </a:pPr>
            <a:r>
              <a:rPr lang="en-US" sz="1200" b="0" dirty="0"/>
              <a:t>Roll No. 214G1A3257</a:t>
            </a:r>
          </a:p>
        </p:txBody>
      </p:sp>
      <p:sp>
        <p:nvSpPr>
          <p:cNvPr id="13" name="Subtitle 11">
            <a:extLst>
              <a:ext uri="{FF2B5EF4-FFF2-40B4-BE49-F238E27FC236}">
                <a16:creationId xmlns:a16="http://schemas.microsoft.com/office/drawing/2014/main" id="{F3C3CADE-4DE0-4FED-8446-912E92DB0292}"/>
              </a:ext>
            </a:extLst>
          </p:cNvPr>
          <p:cNvSpPr txBox="1">
            <a:spLocks/>
          </p:cNvSpPr>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D Charan Kumar</a:t>
            </a:r>
          </a:p>
          <a:p>
            <a:pPr>
              <a:spcBef>
                <a:spcPts val="300"/>
              </a:spcBef>
            </a:pPr>
            <a:r>
              <a:rPr lang="en-US" sz="1200" b="0" dirty="0"/>
              <a:t>Roll No. 214G1A3212</a:t>
            </a:r>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119146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Y Harshavardhan</a:t>
            </a:r>
          </a:p>
          <a:p>
            <a:pPr>
              <a:spcBef>
                <a:spcPts val="300"/>
              </a:spcBef>
            </a:pPr>
            <a:r>
              <a:rPr lang="en-US" sz="1200" b="0" dirty="0"/>
              <a:t>Roll No. 224G5A3206</a:t>
            </a:r>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55009" y="335270"/>
            <a:ext cx="10528183" cy="959798"/>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50F0CE-B0FB-48DA-AD7D-E96A1D3BC2A8}"/>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a:extLst>
              <a:ext uri="{FF2B5EF4-FFF2-40B4-BE49-F238E27FC236}">
                <a16:creationId xmlns:a16="http://schemas.microsoft.com/office/drawing/2014/main" id="{894CA60F-9532-4FDC-90D1-528E33CD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3108" y="3824877"/>
            <a:ext cx="1525765" cy="1260000"/>
          </a:xfrm>
          <a:prstGeom prst="rect">
            <a:avLst/>
          </a:prstGeom>
        </p:spPr>
      </p:pic>
      <p:sp>
        <p:nvSpPr>
          <p:cNvPr id="15" name="TextBox 14">
            <a:extLst>
              <a:ext uri="{FF2B5EF4-FFF2-40B4-BE49-F238E27FC236}">
                <a16:creationId xmlns:a16="http://schemas.microsoft.com/office/drawing/2014/main" id="{CE060436-581C-4554-9133-12AC864831F7}"/>
              </a:ext>
            </a:extLst>
          </p:cNvPr>
          <p:cNvSpPr txBox="1"/>
          <p:nvPr/>
        </p:nvSpPr>
        <p:spPr>
          <a:xfrm>
            <a:off x="0" y="3377890"/>
            <a:ext cx="12191999" cy="369332"/>
          </a:xfrm>
          <a:prstGeom prst="rect">
            <a:avLst/>
          </a:prstGeom>
          <a:noFill/>
        </p:spPr>
        <p:txBody>
          <a:bodyPr wrap="square">
            <a:spAutoFit/>
          </a:bodyPr>
          <a:lstStyle/>
          <a:p>
            <a:pPr algn="ctr"/>
            <a:r>
              <a:rPr lang="en-US" sz="1800" dirty="0">
                <a:solidFill>
                  <a:schemeClr val="tx1"/>
                </a:solidFill>
                <a:latin typeface="Times New Roman" pitchFamily="18" charset="0"/>
                <a:cs typeface="Times New Roman" pitchFamily="18" charset="0"/>
              </a:rPr>
              <a:t>GitHub Link: </a:t>
            </a:r>
            <a:r>
              <a:rPr lang="en-IN" dirty="0">
                <a:latin typeface="Times New Roman" panose="02020603050405020304" pitchFamily="18" charset="0"/>
                <a:cs typeface="Times New Roman" panose="02020603050405020304" pitchFamily="18" charset="0"/>
                <a:hlinkClick r:id="rId3"/>
              </a:rPr>
              <a:t>https://github.com/k-venky/CSD_2021-25_A-15</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BBE39D68-BE30-861A-85C6-E22AE78109FF}"/>
              </a:ext>
            </a:extLst>
          </p:cNvPr>
          <p:cNvSpPr>
            <a:spLocks noGrp="1"/>
          </p:cNvSpPr>
          <p:nvPr>
            <p:ph idx="1"/>
          </p:nvPr>
        </p:nvSpPr>
        <p:spPr>
          <a:xfrm>
            <a:off x="265150" y="1288928"/>
            <a:ext cx="11340854" cy="4280143"/>
          </a:xfrm>
        </p:spPr>
        <p:txBody>
          <a:bodyPr>
            <a:noAutofit/>
          </a:bodyPr>
          <a:lstStyle/>
          <a:p>
            <a:pPr marL="457200" indent="0">
              <a:lnSpc>
                <a:spcPct val="150000"/>
              </a:lnSpc>
              <a:buNone/>
            </a:pPr>
            <a:r>
              <a:rPr lang="en-US" sz="2400" dirty="0"/>
              <a:t>Recent advancements in natural language generation enable the creation of deepfake posts, influencing public opinion on social media. This research focuses on detecting machine-generated text, particularly on Twitter, using a CNN model with Fast Text embeddings. The proposed method outperformed baseline models utilizing TF, TF-IDF, and Fast Text embeddings. Results demonstrate the CNN model’s effectiveness in detecting deepfake tweets, emphasizing the role of deep learning in combating misinformation and preserving online discourse integrity.</a:t>
            </a:r>
          </a:p>
        </p:txBody>
      </p:sp>
    </p:spTree>
    <p:extLst>
      <p:ext uri="{BB962C8B-B14F-4D97-AF65-F5344CB8AC3E}">
        <p14:creationId xmlns:p14="http://schemas.microsoft.com/office/powerpoint/2010/main" val="175112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fontScale="92500" lnSpcReduction="20000"/>
          </a:bodyPr>
          <a:lstStyle/>
          <a:p>
            <a:pPr marL="461963" indent="-461963">
              <a:buBlip>
                <a:blip r:embed="rId2">
                  <a:extLst>
                    <a:ext uri="{96DAC541-7B7A-43D3-8B79-37D633B846F1}">
                      <asvg:svgBlip xmlns:asvg="http://schemas.microsoft.com/office/drawing/2016/SVG/main" r:embed="rId3"/>
                    </a:ext>
                  </a:extLst>
                </a:blip>
              </a:buBlip>
            </a:pPr>
            <a:r>
              <a:rPr lang="en-US" dirty="0"/>
              <a:t>Introduction</a:t>
            </a:r>
          </a:p>
          <a:p>
            <a:pPr marL="461963" indent="-461963">
              <a:buBlip>
                <a:blip r:embed="rId2">
                  <a:extLst>
                    <a:ext uri="{96DAC541-7B7A-43D3-8B79-37D633B846F1}">
                      <asvg:svgBlip xmlns:asvg="http://schemas.microsoft.com/office/drawing/2016/SVG/main" r:embed="rId3"/>
                    </a:ext>
                  </a:extLst>
                </a:blip>
              </a:buBlip>
            </a:pPr>
            <a:r>
              <a:rPr lang="en-US" dirty="0"/>
              <a:t>Literature Survey</a:t>
            </a:r>
          </a:p>
          <a:p>
            <a:pPr marL="461963" indent="-461963">
              <a:buBlip>
                <a:blip r:embed="rId2">
                  <a:extLst>
                    <a:ext uri="{96DAC541-7B7A-43D3-8B79-37D633B846F1}">
                      <asvg:svgBlip xmlns:asvg="http://schemas.microsoft.com/office/drawing/2016/SVG/main" r:embed="rId3"/>
                    </a:ext>
                  </a:extLst>
                </a:blip>
              </a:buBlip>
            </a:pPr>
            <a:r>
              <a:rPr lang="en-US" dirty="0"/>
              <a:t>Existing System</a:t>
            </a:r>
          </a:p>
          <a:p>
            <a:pPr marL="461963" indent="-461963">
              <a:buBlip>
                <a:blip r:embed="rId2">
                  <a:extLst>
                    <a:ext uri="{96DAC541-7B7A-43D3-8B79-37D633B846F1}">
                      <asvg:svgBlip xmlns:asvg="http://schemas.microsoft.com/office/drawing/2016/SVG/main" r:embed="rId3"/>
                    </a:ext>
                  </a:extLst>
                </a:blip>
              </a:buBlip>
            </a:pPr>
            <a:r>
              <a:rPr lang="en-US" dirty="0"/>
              <a:t>Proposed System</a:t>
            </a:r>
          </a:p>
          <a:p>
            <a:pPr marL="461963" indent="-461963">
              <a:buBlip>
                <a:blip r:embed="rId2">
                  <a:extLst>
                    <a:ext uri="{96DAC541-7B7A-43D3-8B79-37D633B846F1}">
                      <asvg:svgBlip xmlns:asvg="http://schemas.microsoft.com/office/drawing/2016/SVG/main" r:embed="rId3"/>
                    </a:ext>
                  </a:extLst>
                </a:blip>
              </a:buBlip>
            </a:pPr>
            <a:r>
              <a:rPr lang="en-US" dirty="0"/>
              <a:t>Objectives</a:t>
            </a:r>
          </a:p>
          <a:p>
            <a:pPr marL="461963" indent="-461963">
              <a:buBlip>
                <a:blip r:embed="rId2">
                  <a:extLst>
                    <a:ext uri="{96DAC541-7B7A-43D3-8B79-37D633B846F1}">
                      <asvg:svgBlip xmlns:asvg="http://schemas.microsoft.com/office/drawing/2016/SVG/main" r:embed="rId3"/>
                    </a:ext>
                  </a:extLst>
                </a:blip>
              </a:buBlip>
            </a:pPr>
            <a:r>
              <a:rPr lang="en-US" dirty="0"/>
              <a:t>Requirements (functional and nonfunctional)</a:t>
            </a:r>
          </a:p>
          <a:p>
            <a:pPr marL="461963" indent="-461963">
              <a:buBlip>
                <a:blip r:embed="rId2">
                  <a:extLst>
                    <a:ext uri="{96DAC541-7B7A-43D3-8B79-37D633B846F1}">
                      <asvg:svgBlip xmlns:asvg="http://schemas.microsoft.com/office/drawing/2016/SVG/main" r:embed="rId3"/>
                    </a:ext>
                  </a:extLst>
                </a:blip>
              </a:buBlip>
            </a:pPr>
            <a:r>
              <a:rPr lang="en-US" dirty="0"/>
              <a:t>System Architecture</a:t>
            </a:r>
          </a:p>
          <a:p>
            <a:pPr marL="461963" indent="-461963">
              <a:buBlip>
                <a:blip r:embed="rId2">
                  <a:extLst>
                    <a:ext uri="{96DAC541-7B7A-43D3-8B79-37D633B846F1}">
                      <asvg:svgBlip xmlns:asvg="http://schemas.microsoft.com/office/drawing/2016/SVG/main" r:embed="rId3"/>
                    </a:ext>
                  </a:extLst>
                </a:blip>
              </a:buBlip>
            </a:pPr>
            <a:r>
              <a:rPr lang="en-US" dirty="0"/>
              <a:t>Data Flow Diagram / UML / ER </a:t>
            </a:r>
          </a:p>
          <a:p>
            <a:pPr marL="461963" indent="-461963">
              <a:buBlip>
                <a:blip r:embed="rId2">
                  <a:extLst>
                    <a:ext uri="{96DAC541-7B7A-43D3-8B79-37D633B846F1}">
                      <asvg:svgBlip xmlns:asvg="http://schemas.microsoft.com/office/drawing/2016/SVG/main" r:embed="rId3"/>
                    </a:ext>
                  </a:extLst>
                </a:blip>
              </a:buBlip>
            </a:pPr>
            <a:r>
              <a:rPr lang="en-US" dirty="0"/>
              <a:t>Implementation</a:t>
            </a:r>
          </a:p>
          <a:p>
            <a:pPr marL="461963" indent="-461963">
              <a:buBlip>
                <a:blip r:embed="rId2">
                  <a:extLst>
                    <a:ext uri="{96DAC541-7B7A-43D3-8B79-37D633B846F1}">
                      <asvg:svgBlip xmlns:asvg="http://schemas.microsoft.com/office/drawing/2016/SVG/main" r:embed="rId3"/>
                    </a:ext>
                  </a:extLst>
                </a:blip>
              </a:buBlip>
            </a:pPr>
            <a:r>
              <a:rPr lang="en-US" dirty="0"/>
              <a:t>Results (Screenshots)</a:t>
            </a:r>
          </a:p>
          <a:p>
            <a:pPr marL="461963" indent="-461963">
              <a:buBlip>
                <a:blip r:embed="rId2">
                  <a:extLst>
                    <a:ext uri="{96DAC541-7B7A-43D3-8B79-37D633B846F1}">
                      <asvg:svgBlip xmlns:asvg="http://schemas.microsoft.com/office/drawing/2016/SVG/main" r:embed="rId3"/>
                    </a:ext>
                  </a:extLst>
                </a:blip>
              </a:buBlip>
            </a:pPr>
            <a:r>
              <a:rPr lang="en-US" dirty="0"/>
              <a:t>Conclusion</a:t>
            </a:r>
          </a:p>
          <a:p>
            <a:pPr marL="461963" indent="-461963">
              <a:buBlip>
                <a:blip r:embed="rId2">
                  <a:extLst>
                    <a:ext uri="{96DAC541-7B7A-43D3-8B79-37D633B846F1}">
                      <asvg:svgBlip xmlns:asvg="http://schemas.microsoft.com/office/drawing/2016/SVG/main" r:embed="rId3"/>
                    </a:ext>
                  </a:extLst>
                </a:blip>
              </a:buBlip>
            </a:pPr>
            <a:r>
              <a:rPr lang="en-US" dirty="0"/>
              <a:t>References</a:t>
            </a:r>
          </a:p>
          <a:p>
            <a:pPr marL="461963" indent="-461963">
              <a:buBlip>
                <a:blip r:embed="rId2">
                  <a:extLst>
                    <a:ext uri="{96DAC541-7B7A-43D3-8B79-37D633B846F1}">
                      <asvg:svgBlip xmlns:asvg="http://schemas.microsoft.com/office/drawing/2016/SVG/main" r:embed="rId3"/>
                    </a:ext>
                  </a:extLst>
                </a:blip>
              </a:buBlip>
            </a:pPr>
            <a:r>
              <a:rPr lang="en-US" dirty="0"/>
              <a:t>Paper submission proof</a:t>
            </a:r>
            <a:endParaRPr lang="en-IN" dirty="0"/>
          </a:p>
        </p:txBody>
      </p:sp>
    </p:spTree>
    <p:extLst>
      <p:ext uri="{BB962C8B-B14F-4D97-AF65-F5344CB8AC3E}">
        <p14:creationId xmlns:p14="http://schemas.microsoft.com/office/powerpoint/2010/main" val="532094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Introduction</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779135" cy="5394960"/>
          </a:xfrm>
        </p:spPr>
        <p:txBody>
          <a:bodyPr>
            <a:noAutofit/>
          </a:bodyPr>
          <a:lstStyle/>
          <a:p>
            <a:pPr marL="457200" indent="-457200">
              <a:buFont typeface="Wingdings" panose="05000000000000000000" pitchFamily="2" charset="2"/>
              <a:buChar char="Ø"/>
            </a:pPr>
            <a:r>
              <a:rPr lang="en-US" sz="2400" b="1" dirty="0"/>
              <a:t>Overview of Social Media Challenges: </a:t>
            </a:r>
            <a:r>
              <a:rPr lang="en-US" sz="2400" dirty="0"/>
              <a:t>Social media connects people but has also become a platform for misinformation, spread using bots and deepfake content like AI-generated text, audio, and videos.</a:t>
            </a:r>
          </a:p>
          <a:p>
            <a:pPr marL="457200" indent="-457200">
              <a:buFont typeface="Wingdings" panose="05000000000000000000" pitchFamily="2" charset="2"/>
              <a:buChar char="Ø"/>
            </a:pPr>
            <a:r>
              <a:rPr lang="en-US" sz="2400" b="1" dirty="0"/>
              <a:t>Emergence of Deepfake Texts: </a:t>
            </a:r>
            <a:r>
              <a:rPr lang="en-US" sz="2400" dirty="0"/>
              <a:t>Deepfake, combining "deep learning" and "fake," refers to deceptive AI-generated multimedia, raising concerns about its misuse in politics and public opinion.</a:t>
            </a:r>
          </a:p>
          <a:p>
            <a:pPr marL="457200" indent="-457200">
              <a:buFont typeface="Wingdings" panose="05000000000000000000" pitchFamily="2" charset="2"/>
              <a:buChar char="Ø"/>
            </a:pPr>
            <a:r>
              <a:rPr lang="en-US" sz="2400" b="1" dirty="0"/>
              <a:t>Role of Generative Models: </a:t>
            </a:r>
            <a:r>
              <a:rPr lang="en-US" sz="2400" dirty="0"/>
              <a:t>Advanced models like GPT-2 and GPT-3 make it difficult to differentiate human-written from machine-generated content, especially in short texts like tweets.</a:t>
            </a:r>
          </a:p>
          <a:p>
            <a:pPr marL="457200" indent="-457200">
              <a:buFont typeface="Wingdings" panose="05000000000000000000" pitchFamily="2" charset="2"/>
              <a:buChar char="Ø"/>
            </a:pPr>
            <a:r>
              <a:rPr lang="en-US" sz="2400" b="1" dirty="0"/>
              <a:t>Research Gap and Dataset: </a:t>
            </a:r>
            <a:r>
              <a:rPr lang="en-US" sz="2400" dirty="0"/>
              <a:t>While deepfake detection in long text is studied, detecting bot-generated tweets is less explored. The </a:t>
            </a:r>
            <a:r>
              <a:rPr lang="en-US" sz="2400" dirty="0" err="1"/>
              <a:t>Tweepfake</a:t>
            </a:r>
            <a:r>
              <a:rPr lang="en-US" sz="2400" dirty="0"/>
              <a:t> dataset provides human and bot-generated tweets for this study.</a:t>
            </a:r>
          </a:p>
          <a:p>
            <a:pPr marL="457200" indent="-457200">
              <a:buFont typeface="Wingdings" panose="05000000000000000000" pitchFamily="2" charset="2"/>
              <a:buChar char="Ø"/>
            </a:pPr>
            <a:r>
              <a:rPr lang="en-US" sz="2400" b="1" dirty="0"/>
              <a:t>The Approach: </a:t>
            </a:r>
            <a:r>
              <a:rPr lang="en-US" sz="2400" dirty="0"/>
              <a:t>This project uses a CNN with </a:t>
            </a:r>
            <a:r>
              <a:rPr lang="en-US" sz="2400" dirty="0" err="1"/>
              <a:t>FastText</a:t>
            </a:r>
            <a:r>
              <a:rPr lang="en-US" sz="2400" dirty="0"/>
              <a:t> embeddings to reliably classify tweets as human- or bot-generated, addressing the deepfake detection challenge.</a:t>
            </a:r>
          </a:p>
          <a:p>
            <a:pPr marL="0" indent="0">
              <a:buNone/>
            </a:pPr>
            <a:endParaRPr lang="en-US" sz="2400" dirty="0"/>
          </a:p>
        </p:txBody>
      </p:sp>
    </p:spTree>
    <p:extLst>
      <p:ext uri="{BB962C8B-B14F-4D97-AF65-F5344CB8AC3E}">
        <p14:creationId xmlns:p14="http://schemas.microsoft.com/office/powerpoint/2010/main" val="31678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72129-C0E4-B09F-E5FE-24B4505D7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84A3A-AA04-C9CD-EC13-006F7727D55F}"/>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F880E089-518C-BBC7-4C6B-ECD9708760A5}"/>
              </a:ext>
            </a:extLst>
          </p:cNvPr>
          <p:cNvGraphicFramePr>
            <a:graphicFrameLocks noGrp="1"/>
          </p:cNvGraphicFramePr>
          <p:nvPr/>
        </p:nvGraphicFramePr>
        <p:xfrm>
          <a:off x="139959" y="1087120"/>
          <a:ext cx="11644604" cy="4937760"/>
        </p:xfrm>
        <a:graphic>
          <a:graphicData uri="http://schemas.openxmlformats.org/drawingml/2006/table">
            <a:tbl>
              <a:tblPr firstRow="1" bandRow="1">
                <a:tableStyleId>{5C22544A-7EE6-4342-B048-85BDC9FD1C3A}</a:tableStyleId>
              </a:tblPr>
              <a:tblGrid>
                <a:gridCol w="531844">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1.</a:t>
                      </a:r>
                    </a:p>
                  </a:txBody>
                  <a:tcPr/>
                </a:tc>
                <a:tc>
                  <a:txBody>
                    <a:bodyPr/>
                    <a:lstStyle/>
                    <a:p>
                      <a:r>
                        <a:rPr lang="en-US" dirty="0" err="1"/>
                        <a:t>Tweepfake</a:t>
                      </a:r>
                      <a:r>
                        <a:rPr lang="en-US" dirty="0"/>
                        <a:t>: About detecting deepfake tweets</a:t>
                      </a:r>
                    </a:p>
                  </a:txBody>
                  <a:tcPr/>
                </a:tc>
                <a:tc>
                  <a:txBody>
                    <a:bodyPr/>
                    <a:lstStyle/>
                    <a:p>
                      <a:r>
                        <a:rPr lang="it-IT" dirty="0"/>
                        <a:t>Tiziano Fagni, Fabrizio Falchi, Margherita Gambini, et al.</a:t>
                      </a:r>
                      <a:endParaRPr lang="en-US" dirty="0"/>
                    </a:p>
                  </a:txBody>
                  <a:tcPr/>
                </a:tc>
                <a:tc>
                  <a:txBody>
                    <a:bodyPr/>
                    <a:lstStyle/>
                    <a:p>
                      <a:r>
                        <a:rPr lang="en-US" dirty="0"/>
                        <a:t>PLOS One, 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Applied machine learning models (e.g., BERT) to classify AI-generated tweets.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accuracy in detecting fake tweets, highlighting model potential.</a:t>
                      </a:r>
                    </a:p>
                  </a:txBody>
                  <a:tcPr/>
                </a:tc>
                <a:tc>
                  <a:txBody>
                    <a:bodyPr/>
                    <a:lstStyle/>
                    <a:p>
                      <a:r>
                        <a:rPr lang="en-US" dirty="0"/>
                        <a:t>Dataset bias due to limited diversity in tweet samples.</a:t>
                      </a:r>
                    </a:p>
                  </a:txBody>
                  <a:tcPr/>
                </a:tc>
                <a:extLst>
                  <a:ext uri="{0D108BD9-81ED-4DB2-BD59-A6C34878D82A}">
                    <a16:rowId xmlns:a16="http://schemas.microsoft.com/office/drawing/2014/main" val="3143579915"/>
                  </a:ext>
                </a:extLst>
              </a:tr>
              <a:tr h="370840">
                <a:tc>
                  <a:txBody>
                    <a:bodyPr/>
                    <a:lstStyle/>
                    <a:p>
                      <a:r>
                        <a:rPr lang="en-US" dirty="0"/>
                        <a:t>2.</a:t>
                      </a:r>
                    </a:p>
                  </a:txBody>
                  <a:tcPr/>
                </a:tc>
                <a:tc>
                  <a:txBody>
                    <a:bodyPr/>
                    <a:lstStyle/>
                    <a:p>
                      <a:r>
                        <a:rPr lang="en-US" dirty="0"/>
                        <a:t>ChatGPT or human? Detect and explain</a:t>
                      </a:r>
                    </a:p>
                  </a:txBody>
                  <a:tcPr/>
                </a:tc>
                <a:tc>
                  <a:txBody>
                    <a:bodyPr/>
                    <a:lstStyle/>
                    <a:p>
                      <a:r>
                        <a:rPr lang="en-US" dirty="0"/>
                        <a:t>Sandra </a:t>
                      </a:r>
                      <a:r>
                        <a:rPr lang="en-US" dirty="0" err="1"/>
                        <a:t>Mitrović</a:t>
                      </a:r>
                      <a:r>
                        <a:rPr lang="en-US" dirty="0"/>
                        <a:t>, Davide </a:t>
                      </a:r>
                      <a:r>
                        <a:rPr lang="en-US" dirty="0" err="1"/>
                        <a:t>Andreoletti</a:t>
                      </a:r>
                      <a:r>
                        <a:rPr lang="en-US" dirty="0"/>
                        <a:t>, </a:t>
                      </a:r>
                      <a:r>
                        <a:rPr lang="en-US" dirty="0" err="1"/>
                        <a:t>Omran</a:t>
                      </a:r>
                      <a:r>
                        <a:rPr lang="en-US" dirty="0"/>
                        <a:t> Ayoub</a:t>
                      </a:r>
                    </a:p>
                  </a:txBody>
                  <a:tcPr/>
                </a:tc>
                <a:tc>
                  <a:txBody>
                    <a:bodyPr/>
                    <a:lstStyle/>
                    <a:p>
                      <a:r>
                        <a:rPr lang="en-US" dirty="0" err="1"/>
                        <a:t>arXiv</a:t>
                      </a:r>
                      <a:r>
                        <a:rPr lang="en-US" dirty="0"/>
                        <a:t> preprint, 2023</a:t>
                      </a:r>
                    </a:p>
                  </a:txBody>
                  <a:tcPr/>
                </a:tc>
                <a:tc>
                  <a:txBody>
                    <a:bodyPr/>
                    <a:lstStyle/>
                    <a:p>
                      <a:r>
                        <a:rPr lang="en-US" dirty="0"/>
                        <a:t>Explored linguistic and stylistic patterns using transformer-based models for distinguishing ChatGPT-generated text from human text.</a:t>
                      </a:r>
                    </a:p>
                  </a:txBody>
                  <a:tcPr/>
                </a:tc>
                <a:tc>
                  <a:txBody>
                    <a:bodyPr/>
                    <a:lstStyle/>
                    <a:p>
                      <a:r>
                        <a:rPr lang="en-US" dirty="0"/>
                        <a:t>Effective in explaining why specific outputs are machine-generated.</a:t>
                      </a:r>
                    </a:p>
                  </a:txBody>
                  <a:tcPr/>
                </a:tc>
                <a:tc>
                  <a:txBody>
                    <a:bodyPr/>
                    <a:lstStyle/>
                    <a:p>
                      <a:r>
                        <a:rPr lang="en-US" dirty="0"/>
                        <a:t>Performance is model-dependent and lacks robustness to fine-tuned generative models.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109021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E5F6-AE91-04ED-DEDB-76D21E91F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71BB5-B891-7335-4781-912BD681F5F8}"/>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A662D4D1-EEBF-DD8E-FD3A-44FBC92160EC}"/>
              </a:ext>
            </a:extLst>
          </p:cNvPr>
          <p:cNvGraphicFramePr>
            <a:graphicFrameLocks noGrp="1"/>
          </p:cNvGraphicFramePr>
          <p:nvPr>
            <p:extLst>
              <p:ext uri="{D42A27DB-BD31-4B8C-83A1-F6EECF244321}">
                <p14:modId xmlns:p14="http://schemas.microsoft.com/office/powerpoint/2010/main" val="2869942658"/>
              </p:ext>
            </p:extLst>
          </p:nvPr>
        </p:nvGraphicFramePr>
        <p:xfrm>
          <a:off x="188627" y="1119204"/>
          <a:ext cx="11628020" cy="5212080"/>
        </p:xfrm>
        <a:graphic>
          <a:graphicData uri="http://schemas.openxmlformats.org/drawingml/2006/table">
            <a:tbl>
              <a:tblPr firstRow="1" bandRow="1">
                <a:tableStyleId>{5C22544A-7EE6-4342-B048-85BDC9FD1C3A}</a:tableStyleId>
              </a:tblPr>
              <a:tblGrid>
                <a:gridCol w="515260">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3.</a:t>
                      </a:r>
                    </a:p>
                  </a:txBody>
                  <a:tcPr/>
                </a:tc>
                <a:tc>
                  <a:txBody>
                    <a:bodyPr/>
                    <a:lstStyle/>
                    <a:p>
                      <a:r>
                        <a:rPr lang="en-US" dirty="0"/>
                        <a:t>Deepfake tweets classification using stacked Bi-LSTM and words embedding</a:t>
                      </a:r>
                    </a:p>
                  </a:txBody>
                  <a:tcPr/>
                </a:tc>
                <a:tc>
                  <a:txBody>
                    <a:bodyPr/>
                    <a:lstStyle/>
                    <a:p>
                      <a:r>
                        <a:rPr lang="en-US" dirty="0"/>
                        <a:t>R Vaibhav, R Furqan, A </a:t>
                      </a:r>
                      <a:r>
                        <a:rPr lang="en-US" dirty="0" err="1"/>
                        <a:t>Aashir</a:t>
                      </a:r>
                      <a:r>
                        <a:rPr lang="en-US" dirty="0"/>
                        <a:t>, PB Washington, Ernesto Lee, A Imran </a:t>
                      </a:r>
                    </a:p>
                  </a:txBody>
                  <a:tcPr/>
                </a:tc>
                <a:tc>
                  <a:txBody>
                    <a:bodyPr/>
                    <a:lstStyle/>
                    <a:p>
                      <a:r>
                        <a:rPr lang="en-US" dirty="0" err="1"/>
                        <a:t>PeerJ</a:t>
                      </a:r>
                      <a:r>
                        <a:rPr lang="en-US" dirty="0"/>
                        <a:t> </a:t>
                      </a:r>
                      <a:r>
                        <a:rPr lang="en-US" dirty="0" err="1"/>
                        <a:t>Comput</a:t>
                      </a:r>
                      <a:r>
                        <a:rPr lang="en-US" dirty="0"/>
                        <a:t>. Sci 7:e745, 2021</a:t>
                      </a:r>
                    </a:p>
                  </a:txBody>
                  <a:tcPr/>
                </a:tc>
                <a:tc>
                  <a:txBody>
                    <a:bodyPr/>
                    <a:lstStyle/>
                    <a:p>
                      <a:r>
                        <a:rPr lang="en-US" dirty="0"/>
                        <a:t>Utilized stacked Bi-LSTM architecture with word embeddings for generating contextually accurate deepfake tweets.</a:t>
                      </a:r>
                    </a:p>
                  </a:txBody>
                  <a:tcPr/>
                </a:tc>
                <a:tc>
                  <a:txBody>
                    <a:bodyPr/>
                    <a:lstStyle/>
                    <a:p>
                      <a:r>
                        <a:rPr lang="en-US" dirty="0"/>
                        <a:t>The model produced human-like tweets with low perplexity and enhanced diversity in generated content.</a:t>
                      </a:r>
                    </a:p>
                  </a:txBody>
                  <a:tcPr/>
                </a:tc>
                <a:tc>
                  <a:txBody>
                    <a:bodyPr/>
                    <a:lstStyle/>
                    <a:p>
                      <a:r>
                        <a:rPr lang="en-US" dirty="0"/>
                        <a:t>The approach struggles with sarcasm, ambiguity, ethical misuse concerns, and computational inefficiency compared to other models.</a:t>
                      </a:r>
                    </a:p>
                  </a:txBody>
                  <a:tcPr/>
                </a:tc>
                <a:extLst>
                  <a:ext uri="{0D108BD9-81ED-4DB2-BD59-A6C34878D82A}">
                    <a16:rowId xmlns:a16="http://schemas.microsoft.com/office/drawing/2014/main" val="3143579915"/>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Deepfake detection using deep learning methods: A systematic and comprehensive 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err="1"/>
                        <a:t>Heidari</a:t>
                      </a:r>
                      <a:r>
                        <a:rPr lang="en-US" dirty="0"/>
                        <a:t>, N. Jafari </a:t>
                      </a:r>
                      <a:r>
                        <a:rPr lang="en-US" dirty="0" err="1"/>
                        <a:t>Navimipour</a:t>
                      </a:r>
                      <a:r>
                        <a:rPr lang="en-US" dirty="0"/>
                        <a:t>, H. Dag, M. Unal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WIREs Data Mining and Knowledge Discovery, vol. 14, no. 2, pp. e1520,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Systematic review of deep learning-based deepfake detection approaches across various domains.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Highlighted effectiveness of CNNs, GANs, and transformers for multimedia deepfake detection.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Lacks a unified framework for practical implementation of detection methods.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758501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Existing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lnSpcReduction="10000"/>
          </a:bodyPr>
          <a:lstStyle/>
          <a:p>
            <a:pPr marL="311760" indent="0" algn="just">
              <a:lnSpc>
                <a:spcPct val="100000"/>
              </a:lnSpc>
              <a:buNone/>
            </a:pPr>
            <a:r>
              <a:rPr lang="en-US" sz="2400" b="0" strike="noStrike" spc="-1" dirty="0">
                <a:solidFill>
                  <a:srgbClr val="000000"/>
                </a:solidFill>
                <a:latin typeface="Times New Roman"/>
                <a:ea typeface="Calibri"/>
              </a:rPr>
              <a:t>Existing research in deepfake text detection primarily utilizes graph-based and feature-based machine learning approaches, providing insights into the creation and detection of deepfakes. However, these methods focus on longer texts like news stories, raising concerns about their applicability to shorter social media texts. The existing system uses a stacked Bi-LSTM architecture with word embeddings to generate realistic deepfake tweets by capturing contextual relationships and semantic meanings. While effective in producing coherent tweets, it struggles with nuanced patterns like sarcasm or ambiguity, requires high computational resources, and lacks scalability for real-time applications.</a:t>
            </a:r>
          </a:p>
          <a:p>
            <a:pPr marL="311760" indent="0" algn="just">
              <a:lnSpc>
                <a:spcPct val="100000"/>
              </a:lnSpc>
              <a:buNone/>
            </a:pPr>
            <a:r>
              <a:rPr lang="en-US" sz="2400" b="1" spc="-1" dirty="0">
                <a:solidFill>
                  <a:srgbClr val="000000"/>
                </a:solidFill>
                <a:latin typeface="Times New Roman"/>
                <a:ea typeface="Calibri"/>
              </a:rPr>
              <a:t>Disadvantages: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Inability to handle sarcasm and ambiguous tweets effectively.</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Poor adaptability to linguistic diversity and cultural variations.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Computational inefficiency, requiring high resources for training and inference.</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Limited capability in detecting and analyzing machine-generated tweets.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Scalability issues, making it unsuitable for large-scale or real-time implementations.</a:t>
            </a:r>
          </a:p>
          <a:p>
            <a:pPr marL="311760" indent="0" algn="just">
              <a:lnSpc>
                <a:spcPct val="100000"/>
              </a:lnSpc>
              <a:buNone/>
            </a:pPr>
            <a:endParaRPr lang="en-US" sz="2400" spc="-1" dirty="0">
              <a:solidFill>
                <a:srgbClr val="000000"/>
              </a:solidFill>
              <a:latin typeface="Times New Roman"/>
              <a:ea typeface="Calibri"/>
            </a:endParaRPr>
          </a:p>
        </p:txBody>
      </p:sp>
    </p:spTree>
    <p:extLst>
      <p:ext uri="{BB962C8B-B14F-4D97-AF65-F5344CB8AC3E}">
        <p14:creationId xmlns:p14="http://schemas.microsoft.com/office/powerpoint/2010/main" val="598757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Proposed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fontScale="92500"/>
          </a:bodyPr>
          <a:lstStyle/>
          <a:p>
            <a:pPr marL="311760" indent="0" algn="just">
              <a:lnSpc>
                <a:spcPct val="100000"/>
              </a:lnSpc>
              <a:buNone/>
            </a:pPr>
            <a:r>
              <a:rPr lang="en-US" sz="2600" b="0" strike="noStrike" spc="-1" dirty="0">
                <a:solidFill>
                  <a:srgbClr val="000000"/>
                </a:solidFill>
                <a:latin typeface="Times New Roman"/>
                <a:ea typeface="Calibri"/>
              </a:rPr>
              <a:t>The proposed system leverages deep learning models with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for identifying machine-generated tweets on social media.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capture </a:t>
            </a:r>
            <a:r>
              <a:rPr lang="en-US" sz="2600" b="0" strike="noStrike" spc="-1" dirty="0" err="1">
                <a:solidFill>
                  <a:srgbClr val="000000"/>
                </a:solidFill>
                <a:latin typeface="Times New Roman"/>
                <a:ea typeface="Calibri"/>
              </a:rPr>
              <a:t>subword</a:t>
            </a:r>
            <a:r>
              <a:rPr lang="en-US" sz="2600" b="0" strike="noStrike" spc="-1" dirty="0">
                <a:solidFill>
                  <a:srgbClr val="000000"/>
                </a:solidFill>
                <a:latin typeface="Times New Roman"/>
                <a:ea typeface="Calibri"/>
              </a:rPr>
              <a:t>-level information, improving handling of sarcasm, ambiguity, and rare words while ensuring adaptability to diverse linguistic contexts. Optimized architectures enhance computational efficiency and scalability, making the system suitable for real-time analysis. This approach combines robust feature extraction with advanced deep learning techniques, addressing the limitations of the existing system.</a:t>
            </a:r>
          </a:p>
          <a:p>
            <a:pPr marL="311760" indent="0" algn="just">
              <a:lnSpc>
                <a:spcPct val="100000"/>
              </a:lnSpc>
              <a:buNone/>
            </a:pPr>
            <a:r>
              <a:rPr lang="en-US" sz="2600" b="1" spc="-1" dirty="0">
                <a:solidFill>
                  <a:srgbClr val="000000"/>
                </a:solidFill>
                <a:latin typeface="Times New Roman"/>
                <a:ea typeface="Calibri"/>
              </a:rPr>
              <a:t>Advantages: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Sarcasm and Ambiguity: </a:t>
            </a:r>
            <a:r>
              <a:rPr lang="en-US" sz="2100" strike="noStrike" spc="-1" dirty="0" err="1">
                <a:solidFill>
                  <a:srgbClr val="000000"/>
                </a:solidFill>
                <a:latin typeface="Times New Roman"/>
                <a:ea typeface="Calibri"/>
              </a:rPr>
              <a:t>FastText’s</a:t>
            </a:r>
            <a:r>
              <a:rPr lang="en-US" sz="2100" strike="noStrike" spc="-1" dirty="0">
                <a:solidFill>
                  <a:srgbClr val="000000"/>
                </a:solidFill>
                <a:latin typeface="Times New Roman"/>
                <a:ea typeface="Calibri"/>
              </a:rPr>
              <a:t> </a:t>
            </a:r>
            <a:r>
              <a:rPr lang="en-US" sz="2100" strike="noStrike" spc="-1" dirty="0" err="1">
                <a:solidFill>
                  <a:srgbClr val="000000"/>
                </a:solidFill>
                <a:latin typeface="Times New Roman"/>
                <a:ea typeface="Calibri"/>
              </a:rPr>
              <a:t>subword</a:t>
            </a:r>
            <a:r>
              <a:rPr lang="en-US" sz="2100" strike="noStrike" spc="-1" dirty="0">
                <a:solidFill>
                  <a:srgbClr val="000000"/>
                </a:solidFill>
                <a:latin typeface="Times New Roman"/>
                <a:ea typeface="Calibri"/>
              </a:rPr>
              <a:t>-level representation improves handling of language patterns.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Linguistic Diversity: Adaptability to various languages and cultural contexts through </a:t>
            </a:r>
            <a:r>
              <a:rPr lang="en-US" sz="2100" strike="noStrike" spc="-1" dirty="0" err="1">
                <a:solidFill>
                  <a:srgbClr val="000000"/>
                </a:solidFill>
                <a:latin typeface="Times New Roman"/>
                <a:ea typeface="Calibri"/>
              </a:rPr>
              <a:t>FastText</a:t>
            </a:r>
            <a:r>
              <a:rPr lang="en-US" sz="2100" strike="noStrike" spc="-1" dirty="0">
                <a:solidFill>
                  <a:srgbClr val="000000"/>
                </a:solidFill>
                <a:latin typeface="Times New Roman"/>
                <a:ea typeface="Calibri"/>
              </a:rPr>
              <a:t> embeddings.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Computational Efficiency: Reduced resource consumption due to optimized deep learning models.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Detection Capability: Focused design on identifying machine-generated tweets enhances accuracy.</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Scalability: Improved scalability for large-scale and real-time applications through efficient architectures.</a:t>
            </a:r>
          </a:p>
        </p:txBody>
      </p:sp>
    </p:spTree>
    <p:extLst>
      <p:ext uri="{BB962C8B-B14F-4D97-AF65-F5344CB8AC3E}">
        <p14:creationId xmlns:p14="http://schemas.microsoft.com/office/powerpoint/2010/main" val="3455780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endParaRPr lang="en-IN" dirty="0"/>
          </a:p>
        </p:txBody>
      </p:sp>
      <p:sp>
        <p:nvSpPr>
          <p:cNvPr id="3" name="Rectangle 1">
            <a:extLst>
              <a:ext uri="{FF2B5EF4-FFF2-40B4-BE49-F238E27FC236}">
                <a16:creationId xmlns:a16="http://schemas.microsoft.com/office/drawing/2014/main" id="{3A6C9E92-019B-8435-3B33-84774992EE2E}"/>
              </a:ext>
            </a:extLst>
          </p:cNvPr>
          <p:cNvSpPr>
            <a:spLocks noGrp="1" noChangeArrowheads="1"/>
          </p:cNvSpPr>
          <p:nvPr>
            <p:ph idx="1"/>
          </p:nvPr>
        </p:nvSpPr>
        <p:spPr bwMode="auto">
          <a:xfrm>
            <a:off x="275302" y="1154430"/>
            <a:ext cx="1144689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Develop an Effective Detection Model</a:t>
            </a:r>
            <a:r>
              <a:rPr kumimoji="0" lang="en-US" altLang="en-US" sz="2400" b="0" i="0" u="none" strike="noStrike" cap="none" normalizeH="0" baseline="0" dirty="0">
                <a:ln>
                  <a:noFill/>
                </a:ln>
                <a:solidFill>
                  <a:schemeClr val="tx1"/>
                </a:solidFill>
                <a:effectLst/>
              </a:rPr>
              <a:t>: Design and implement a CNN-based deep learning approach combined with </a:t>
            </a:r>
            <a:r>
              <a:rPr kumimoji="0" lang="en-US" altLang="en-US" sz="2400" b="0" i="0" u="none" strike="noStrike" cap="none" normalizeH="0" baseline="0" dirty="0" err="1">
                <a:ln>
                  <a:noFill/>
                </a:ln>
                <a:solidFill>
                  <a:schemeClr val="tx1"/>
                </a:solidFill>
                <a:effectLst/>
              </a:rPr>
              <a:t>FastText</a:t>
            </a:r>
            <a:r>
              <a:rPr kumimoji="0" lang="en-US" altLang="en-US" sz="2400" b="0" i="0" u="none" strike="noStrike" cap="none" normalizeH="0" baseline="0" dirty="0">
                <a:ln>
                  <a:noFill/>
                </a:ln>
                <a:solidFill>
                  <a:schemeClr val="tx1"/>
                </a:solidFill>
                <a:effectLst/>
              </a:rPr>
              <a:t> embeddings to classify tweets as human-generated or bot-generated.</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Evaluate and Optimize Performance</a:t>
            </a:r>
            <a:r>
              <a:rPr kumimoji="0" lang="en-US" altLang="en-US" sz="2400" b="0" i="0" u="none" strike="noStrike" cap="none" normalizeH="0" baseline="0" dirty="0">
                <a:ln>
                  <a:noFill/>
                </a:ln>
                <a:solidFill>
                  <a:schemeClr val="tx1"/>
                </a:solidFill>
                <a:effectLst/>
              </a:rPr>
              <a:t>: Compare the proposed model with baseline machine learning techniques, optimize its architecture, and demonstrate superior accuracy in detecting machine-generated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Safeguard Online Integrity</a:t>
            </a:r>
            <a:r>
              <a:rPr kumimoji="0" lang="en-US" altLang="en-US" sz="2400" b="0" i="0" u="none" strike="noStrike" cap="none" normalizeH="0" baseline="0" dirty="0">
                <a:ln>
                  <a:noFill/>
                </a:ln>
                <a:solidFill>
                  <a:schemeClr val="tx1"/>
                </a:solidFill>
                <a:effectLst/>
              </a:rPr>
              <a:t>: Contribute to combating misinformation and ensuring the integrity of public discourse by providing reliable tools to detect and mitigate the impact of deepfake tweets.</a:t>
            </a:r>
          </a:p>
        </p:txBody>
      </p:sp>
    </p:spTree>
    <p:extLst>
      <p:ext uri="{BB962C8B-B14F-4D97-AF65-F5344CB8AC3E}">
        <p14:creationId xmlns:p14="http://schemas.microsoft.com/office/powerpoint/2010/main" val="4216358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Requirements</a:t>
            </a:r>
          </a:p>
        </p:txBody>
      </p:sp>
      <p:graphicFrame>
        <p:nvGraphicFramePr>
          <p:cNvPr id="4" name="Content Placeholder 3"/>
          <p:cNvGraphicFramePr>
            <a:graphicFrameLocks noGrp="1"/>
          </p:cNvGraphicFramePr>
          <p:nvPr>
            <p:ph idx="1"/>
          </p:nvPr>
        </p:nvGraphicFramePr>
        <p:xfrm>
          <a:off x="206373" y="1542191"/>
          <a:ext cx="11779250" cy="3773617"/>
        </p:xfrm>
        <a:graphic>
          <a:graphicData uri="http://schemas.openxmlformats.org/drawingml/2006/table">
            <a:tbl>
              <a:tblPr firstRow="1" bandRow="1">
                <a:tableStyleId>{5C22544A-7EE6-4342-B048-85BDC9FD1C3A}</a:tableStyleId>
              </a:tblPr>
              <a:tblGrid>
                <a:gridCol w="5869699">
                  <a:extLst>
                    <a:ext uri="{9D8B030D-6E8A-4147-A177-3AD203B41FA5}">
                      <a16:colId xmlns:a16="http://schemas.microsoft.com/office/drawing/2014/main" val="20000"/>
                    </a:ext>
                  </a:extLst>
                </a:gridCol>
                <a:gridCol w="5909551">
                  <a:extLst>
                    <a:ext uri="{9D8B030D-6E8A-4147-A177-3AD203B41FA5}">
                      <a16:colId xmlns:a16="http://schemas.microsoft.com/office/drawing/2014/main" val="20001"/>
                    </a:ext>
                  </a:extLst>
                </a:gridCol>
              </a:tblGrid>
              <a:tr h="563729">
                <a:tc>
                  <a:txBody>
                    <a:bodyPr/>
                    <a:lstStyle/>
                    <a:p>
                      <a:pPr algn="ctr"/>
                      <a:r>
                        <a:rPr lang="en-IN" sz="2400" dirty="0">
                          <a:latin typeface="Times New Roman" panose="02020603050405020304" pitchFamily="18" charset="0"/>
                          <a:cs typeface="Times New Roman" panose="02020603050405020304" pitchFamily="18" charset="0"/>
                        </a:rPr>
                        <a:t>Functional</a:t>
                      </a:r>
                    </a:p>
                  </a:txBody>
                  <a:tcPr/>
                </a:tc>
                <a:tc>
                  <a:txBody>
                    <a:bodyPr/>
                    <a:lstStyle/>
                    <a:p>
                      <a:pPr algn="ctr"/>
                      <a:r>
                        <a:rPr lang="en-IN" sz="2400" dirty="0">
                          <a:latin typeface="Times New Roman" panose="02020603050405020304" pitchFamily="18" charset="0"/>
                          <a:cs typeface="Times New Roman" panose="02020603050405020304" pitchFamily="18" charset="0"/>
                        </a:rPr>
                        <a:t>Non-Functional</a:t>
                      </a:r>
                    </a:p>
                  </a:txBody>
                  <a:tcPr/>
                </a:tc>
                <a:extLst>
                  <a:ext uri="{0D108BD9-81ED-4DB2-BD59-A6C34878D82A}">
                    <a16:rowId xmlns:a16="http://schemas.microsoft.com/office/drawing/2014/main" val="10000"/>
                  </a:ext>
                </a:extLst>
              </a:tr>
              <a:tr h="3209888">
                <a:tc>
                  <a:txBody>
                    <a:bodyPr/>
                    <a:lstStyle/>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Sarcasm and Ambiguity</a:t>
                      </a: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Linguistic Diversity</a:t>
                      </a:r>
                      <a:endParaRPr lang="en-IN" sz="2400" b="0" strike="noStrike" spc="-1" dirty="0">
                        <a:solidFill>
                          <a:srgbClr val="000000"/>
                        </a:solidFill>
                        <a:latin typeface="Times New Roman" panose="02020603050405020304" pitchFamily="18" charset="0"/>
                        <a:ea typeface="+mn-ea"/>
                        <a:cs typeface="Times New Roman" panose="02020603050405020304" pitchFamily="18" charset="0"/>
                      </a:endParaRP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ea typeface="+mn-ea"/>
                          <a:cs typeface="Times New Roman" panose="02020603050405020304" pitchFamily="18" charset="0"/>
                        </a:rPr>
                        <a:t>Computational Efficiency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Detection Capability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Predicting</a:t>
                      </a:r>
                      <a:endParaRPr lang="en-IN" sz="2400" dirty="0">
                        <a:latin typeface="Times New Roman" panose="02020603050405020304" pitchFamily="18" charset="0"/>
                        <a:cs typeface="Times New Roman" panose="02020603050405020304" pitchFamily="18" charset="0"/>
                      </a:endParaRPr>
                    </a:p>
                  </a:txBody>
                  <a:tcPr/>
                </a:tc>
                <a:tc>
                  <a:txBody>
                    <a:bodyPr/>
                    <a:lstStyle/>
                    <a:p>
                      <a:pPr marL="685800" indent="-457200" algn="l">
                        <a:lnSpc>
                          <a:spcPct val="10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Performance</a:t>
                      </a:r>
                      <a:endParaRPr lang="en-IN" sz="24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Scalability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Reliability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Security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Maintainability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US" dirty="0"/>
              <a:t>System Architecture</a:t>
            </a:r>
            <a:endParaRPr lang="en-IN" dirty="0"/>
          </a:p>
        </p:txBody>
      </p:sp>
      <p:sp>
        <p:nvSpPr>
          <p:cNvPr id="7" name="Content Placeholder 2">
            <a:extLst>
              <a:ext uri="{FF2B5EF4-FFF2-40B4-BE49-F238E27FC236}">
                <a16:creationId xmlns:a16="http://schemas.microsoft.com/office/drawing/2014/main" id="{2798DA22-7CB2-43B1-8B38-789CEC28484F}"/>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Data Collection and Preprocessing:</a:t>
            </a:r>
          </a:p>
          <a:p>
            <a:pPr marL="0" indent="0">
              <a:buNone/>
            </a:pPr>
            <a:r>
              <a:rPr lang="en-US" dirty="0"/>
              <a:t>A labeled dataset containing tweets from human and bot accounts is sourced from the </a:t>
            </a:r>
            <a:r>
              <a:rPr lang="en-US" dirty="0" err="1"/>
              <a:t>TweepFake</a:t>
            </a:r>
            <a:r>
              <a:rPr lang="en-US" dirty="0"/>
              <a:t> dataset, which consists of:</a:t>
            </a:r>
          </a:p>
          <a:p>
            <a:pPr marL="0" indent="0">
              <a:buNone/>
            </a:pPr>
            <a:r>
              <a:rPr lang="en-US" dirty="0"/>
              <a:t>25,572 tweets classified into human and bot-generated content:</a:t>
            </a:r>
          </a:p>
          <a:p>
            <a:pPr lvl="1">
              <a:buFont typeface="Arial" panose="020B0604020202020204" pitchFamily="34" charset="0"/>
              <a:buChar char="•"/>
            </a:pPr>
            <a:r>
              <a:rPr lang="en-US" dirty="0"/>
              <a:t>Humans: 17 accounts, 12,786 tweets.</a:t>
            </a:r>
          </a:p>
          <a:p>
            <a:pPr lvl="1">
              <a:buFont typeface="Arial" panose="020B0604020202020204" pitchFamily="34" charset="0"/>
              <a:buChar char="•"/>
            </a:pPr>
            <a:r>
              <a:rPr lang="en-US" dirty="0"/>
              <a:t>GPT-2: 11 accounts, 3,861 tweets.</a:t>
            </a:r>
          </a:p>
          <a:p>
            <a:pPr lvl="1">
              <a:buFont typeface="Arial" panose="020B0604020202020204" pitchFamily="34" charset="0"/>
              <a:buChar char="•"/>
            </a:pPr>
            <a:r>
              <a:rPr lang="en-US" dirty="0"/>
              <a:t>RNN: 7 accounts, 4,181 tweets.</a:t>
            </a:r>
          </a:p>
          <a:p>
            <a:pPr lvl="1">
              <a:buFont typeface="Arial" panose="020B0604020202020204" pitchFamily="34" charset="0"/>
              <a:buChar char="•"/>
            </a:pPr>
            <a:r>
              <a:rPr lang="en-US" dirty="0"/>
              <a:t>Other Bots: 5 accounts, 4,876 tweets.</a:t>
            </a:r>
          </a:p>
          <a:p>
            <a:pPr marL="0" indent="0">
              <a:buNone/>
            </a:pPr>
            <a:endParaRPr lang="en-US" dirty="0"/>
          </a:p>
          <a:p>
            <a:pPr marL="0" indent="0">
              <a:buNone/>
            </a:pPr>
            <a:r>
              <a:rPr lang="en-US" dirty="0"/>
              <a:t>The dataset is split into 80:20 ratios for training and testing.</a:t>
            </a:r>
          </a:p>
        </p:txBody>
      </p:sp>
    </p:spTree>
    <p:extLst>
      <p:ext uri="{BB962C8B-B14F-4D97-AF65-F5344CB8AC3E}">
        <p14:creationId xmlns:p14="http://schemas.microsoft.com/office/powerpoint/2010/main" val="3465084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CE07-6829-5B50-4DB0-EAFDE742C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002F2-D870-8531-1F9A-BB011D7F820C}"/>
              </a:ext>
            </a:extLst>
          </p:cNvPr>
          <p:cNvSpPr>
            <a:spLocks noGrp="1"/>
          </p:cNvSpPr>
          <p:nvPr>
            <p:ph type="title"/>
          </p:nvPr>
        </p:nvSpPr>
        <p:spPr/>
        <p:txBody>
          <a:bodyPr/>
          <a:lstStyle/>
          <a:p>
            <a:r>
              <a:rPr lang="en-US" dirty="0"/>
              <a:t>contd..</a:t>
            </a:r>
            <a:endParaRPr lang="en-IN" dirty="0"/>
          </a:p>
        </p:txBody>
      </p:sp>
      <p:sp>
        <p:nvSpPr>
          <p:cNvPr id="7" name="Content Placeholder 2">
            <a:extLst>
              <a:ext uri="{FF2B5EF4-FFF2-40B4-BE49-F238E27FC236}">
                <a16:creationId xmlns:a16="http://schemas.microsoft.com/office/drawing/2014/main" id="{0FE1A35A-9E34-9158-E8D5-705BFB1E4EC7}"/>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Text Vectorization Using </a:t>
            </a:r>
            <a:r>
              <a:rPr lang="en-US" b="1" dirty="0" err="1"/>
              <a:t>FastText</a:t>
            </a:r>
            <a:r>
              <a:rPr lang="en-US" b="1" dirty="0"/>
              <a:t> Word Embedding: </a:t>
            </a:r>
          </a:p>
          <a:p>
            <a:pPr marL="0" indent="0">
              <a:buNone/>
            </a:pPr>
            <a:r>
              <a:rPr lang="en-US" dirty="0"/>
              <a:t>Unlike traditional word embeddings (e.g., Word2Vec) that treat each word as a single unit, </a:t>
            </a:r>
            <a:r>
              <a:rPr lang="en-US" dirty="0" err="1"/>
              <a:t>FastText</a:t>
            </a:r>
            <a:r>
              <a:rPr lang="en-US" dirty="0"/>
              <a:t> represents words as a composition of </a:t>
            </a:r>
            <a:r>
              <a:rPr lang="en-US" dirty="0" err="1"/>
              <a:t>subword</a:t>
            </a:r>
            <a:r>
              <a:rPr lang="en-US" dirty="0"/>
              <a:t> n-grams.</a:t>
            </a:r>
          </a:p>
          <a:p>
            <a:pPr marL="0" indent="0">
              <a:buNone/>
            </a:pPr>
            <a:endParaRPr lang="en-US" sz="2000" dirty="0"/>
          </a:p>
          <a:p>
            <a:pPr lvl="1">
              <a:buFont typeface="Arial" panose="020B0604020202020204" pitchFamily="34" charset="0"/>
              <a:buChar char="•"/>
            </a:pPr>
            <a:r>
              <a:rPr lang="en-US" dirty="0"/>
              <a:t>A sentence "Deepfake detection is critical" becomes tokens [Deepfake, detection, is, critical]</a:t>
            </a:r>
          </a:p>
          <a:p>
            <a:pPr lvl="1">
              <a:buFont typeface="Arial" panose="020B0604020202020204" pitchFamily="34" charset="0"/>
              <a:buChar char="•"/>
            </a:pPr>
            <a:r>
              <a:rPr lang="en-US" dirty="0"/>
              <a:t>Each token is broken down into overlapping character n-grams (e.g., "crit" and "</a:t>
            </a:r>
            <a:r>
              <a:rPr lang="en-US" dirty="0" err="1"/>
              <a:t>ical</a:t>
            </a:r>
            <a:r>
              <a:rPr lang="en-US" dirty="0"/>
              <a:t>" from "critical")</a:t>
            </a:r>
          </a:p>
          <a:p>
            <a:pPr lvl="1">
              <a:buFont typeface="Arial" panose="020B0604020202020204" pitchFamily="34" charset="0"/>
              <a:buChar char="•"/>
            </a:pPr>
            <a:r>
              <a:rPr lang="en-US" dirty="0"/>
              <a:t>The embeddings of all </a:t>
            </a:r>
            <a:r>
              <a:rPr lang="en-US" dirty="0" err="1"/>
              <a:t>subwords</a:t>
            </a:r>
            <a:r>
              <a:rPr lang="en-US" dirty="0"/>
              <a:t> in a word are combined (e.g., averaged or summed) to create the final vector for the word.</a:t>
            </a:r>
          </a:p>
          <a:p>
            <a:pPr lvl="1">
              <a:buFont typeface="Arial" panose="020B0604020202020204" pitchFamily="34" charset="0"/>
              <a:buChar char="•"/>
            </a:pPr>
            <a:r>
              <a:rPr lang="en-US" dirty="0"/>
              <a:t>After each word in a sentence is vectorized, the embeddings are aggregated to form the final sentence-level representation.</a:t>
            </a:r>
          </a:p>
          <a:p>
            <a:pPr marL="0" indent="0">
              <a:buNone/>
            </a:pPr>
            <a:endParaRPr lang="en-US" dirty="0"/>
          </a:p>
        </p:txBody>
      </p:sp>
    </p:spTree>
    <p:extLst>
      <p:ext uri="{BB962C8B-B14F-4D97-AF65-F5344CB8AC3E}">
        <p14:creationId xmlns:p14="http://schemas.microsoft.com/office/powerpoint/2010/main" val="3010146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1A86-31A8-BB66-E05C-42CD730A0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5C5C8-1D51-B616-BA4E-F5E0F239F218}"/>
              </a:ext>
            </a:extLst>
          </p:cNvPr>
          <p:cNvSpPr>
            <a:spLocks noGrp="1"/>
          </p:cNvSpPr>
          <p:nvPr>
            <p:ph type="title"/>
          </p:nvPr>
        </p:nvSpPr>
        <p:spPr>
          <a:xfrm>
            <a:off x="0" y="223428"/>
            <a:ext cx="12192000" cy="714892"/>
          </a:xfrm>
        </p:spPr>
        <p:txBody>
          <a:bodyPr/>
          <a:lstStyle/>
          <a:p>
            <a:r>
              <a:rPr lang="en-US" dirty="0"/>
              <a:t>contd..</a:t>
            </a:r>
            <a:endParaRPr lang="en-IN" dirty="0"/>
          </a:p>
        </p:txBody>
      </p:sp>
      <p:sp>
        <p:nvSpPr>
          <p:cNvPr id="7" name="Content Placeholder 2">
            <a:extLst>
              <a:ext uri="{FF2B5EF4-FFF2-40B4-BE49-F238E27FC236}">
                <a16:creationId xmlns:a16="http://schemas.microsoft.com/office/drawing/2014/main" id="{8397AD86-05C2-EE5C-A7BD-72EE18F508DC}"/>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sz="2400" b="1" dirty="0"/>
              <a:t>CNN Model Architecture:</a:t>
            </a:r>
          </a:p>
          <a:p>
            <a:pPr lvl="1">
              <a:buFont typeface="Arial" panose="020B0604020202020204" pitchFamily="34" charset="0"/>
              <a:buChar char="•"/>
            </a:pPr>
            <a:r>
              <a:rPr lang="en-US" b="1" dirty="0"/>
              <a:t>Input Layer: </a:t>
            </a:r>
            <a:r>
              <a:rPr lang="en-US" dirty="0"/>
              <a:t>The vectorized tweets obtained using </a:t>
            </a:r>
            <a:r>
              <a:rPr lang="en-US" dirty="0" err="1"/>
              <a:t>FastText</a:t>
            </a:r>
            <a:r>
              <a:rPr lang="en-US" dirty="0"/>
              <a:t> word embedding.</a:t>
            </a:r>
          </a:p>
          <a:p>
            <a:pPr lvl="1">
              <a:buFont typeface="Arial" panose="020B0604020202020204" pitchFamily="34" charset="0"/>
              <a:buChar char="•"/>
            </a:pPr>
            <a:r>
              <a:rPr lang="en-US" b="1" dirty="0"/>
              <a:t>Convolutional Layers: </a:t>
            </a:r>
            <a:r>
              <a:rPr lang="en-US" dirty="0"/>
              <a:t>Three layers are used. Outputs from these layers represent the patterns or relationships learned by the CNN.</a:t>
            </a:r>
          </a:p>
          <a:p>
            <a:pPr lvl="1">
              <a:buFont typeface="Arial" panose="020B0604020202020204" pitchFamily="34" charset="0"/>
              <a:buChar char="•"/>
            </a:pPr>
            <a:r>
              <a:rPr lang="en-US" b="1" dirty="0"/>
              <a:t>Activation Function</a:t>
            </a:r>
            <a:r>
              <a:rPr lang="en-US" dirty="0"/>
              <a:t>: </a:t>
            </a:r>
            <a:r>
              <a:rPr lang="en-US" dirty="0" err="1"/>
              <a:t>ReLU</a:t>
            </a:r>
            <a:r>
              <a:rPr lang="en-US" dirty="0"/>
              <a:t> is used to introduce non-linearity.</a:t>
            </a:r>
          </a:p>
          <a:p>
            <a:pPr lvl="1">
              <a:buFont typeface="Arial" panose="020B0604020202020204" pitchFamily="34" charset="0"/>
              <a:buChar char="•"/>
            </a:pPr>
            <a:r>
              <a:rPr lang="en-US" b="1" dirty="0"/>
              <a:t>Pooling Layers</a:t>
            </a:r>
            <a:r>
              <a:rPr lang="en-US" dirty="0"/>
              <a:t>: Max pooling is applied to prevent over fitting. </a:t>
            </a:r>
          </a:p>
          <a:p>
            <a:pPr lvl="1">
              <a:buFont typeface="Arial" panose="020B0604020202020204" pitchFamily="34" charset="0"/>
              <a:buChar char="•"/>
            </a:pPr>
            <a:r>
              <a:rPr lang="en-US" b="1" dirty="0"/>
              <a:t>Flattening:</a:t>
            </a:r>
            <a:r>
              <a:rPr lang="en-US" dirty="0"/>
              <a:t> The final pooled feature maps are flattened into a 1D vector.</a:t>
            </a:r>
          </a:p>
          <a:p>
            <a:pPr lvl="1">
              <a:buFont typeface="Arial" panose="020B0604020202020204" pitchFamily="34" charset="0"/>
              <a:buChar char="•"/>
            </a:pPr>
            <a:r>
              <a:rPr lang="en-US" b="1" dirty="0"/>
              <a:t>Fully Connected Layer: </a:t>
            </a:r>
            <a:r>
              <a:rPr lang="en-US" dirty="0"/>
              <a:t>Combines features, learns the optimal boundaries.</a:t>
            </a:r>
          </a:p>
          <a:p>
            <a:pPr lvl="1">
              <a:buFont typeface="Arial" panose="020B0604020202020204" pitchFamily="34" charset="0"/>
              <a:buChar char="•"/>
            </a:pPr>
            <a:r>
              <a:rPr lang="en-US" b="1" dirty="0"/>
              <a:t>Output Layer:</a:t>
            </a:r>
            <a:r>
              <a:rPr lang="en-US" dirty="0"/>
              <a:t> Produce probabilities for each class (e.g., human vs. bot-generated).</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1680698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890D-A0F5-76AA-12D0-C9416ACB9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F5660-8FD3-8984-3C76-C655394C458D}"/>
              </a:ext>
            </a:extLst>
          </p:cNvPr>
          <p:cNvSpPr>
            <a:spLocks noGrp="1"/>
          </p:cNvSpPr>
          <p:nvPr>
            <p:ph type="title"/>
          </p:nvPr>
        </p:nvSpPr>
        <p:spPr/>
        <p:txBody>
          <a:bodyPr/>
          <a:lstStyle/>
          <a:p>
            <a:r>
              <a:rPr lang="en-US" dirty="0"/>
              <a:t>contd..</a:t>
            </a:r>
            <a:endParaRPr lang="en-IN" dirty="0"/>
          </a:p>
        </p:txBody>
      </p:sp>
      <p:sp>
        <p:nvSpPr>
          <p:cNvPr id="7" name="Content Placeholder 2">
            <a:extLst>
              <a:ext uri="{FF2B5EF4-FFF2-40B4-BE49-F238E27FC236}">
                <a16:creationId xmlns:a16="http://schemas.microsoft.com/office/drawing/2014/main" id="{DA9D518C-08CD-86A3-39B9-4141780F0D06}"/>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Model Training and Evaluation:</a:t>
            </a:r>
          </a:p>
          <a:p>
            <a:pPr marL="0" indent="0">
              <a:buNone/>
            </a:pPr>
            <a:r>
              <a:rPr lang="en-US" dirty="0"/>
              <a:t>The CNN model is trained using the processed and vectorized data.</a:t>
            </a:r>
          </a:p>
          <a:p>
            <a:pPr marL="0" indent="0">
              <a:buNone/>
            </a:pPr>
            <a:r>
              <a:rPr lang="en-US" dirty="0"/>
              <a:t>Evaluation metrics are used to measure model performance, which include:</a:t>
            </a:r>
          </a:p>
          <a:p>
            <a:pPr lvl="1">
              <a:buFont typeface="Arial" panose="020B0604020202020204" pitchFamily="34" charset="0"/>
              <a:buChar char="•"/>
            </a:pPr>
            <a:r>
              <a:rPr lang="en-US" dirty="0"/>
              <a:t>Accuracy</a:t>
            </a:r>
          </a:p>
          <a:p>
            <a:pPr lvl="1">
              <a:buFont typeface="Arial" panose="020B0604020202020204" pitchFamily="34" charset="0"/>
              <a:buChar char="•"/>
            </a:pPr>
            <a:r>
              <a:rPr lang="en-US" dirty="0"/>
              <a:t>Precision</a:t>
            </a:r>
          </a:p>
          <a:p>
            <a:pPr lvl="1">
              <a:buFont typeface="Arial" panose="020B0604020202020204" pitchFamily="34" charset="0"/>
              <a:buChar char="•"/>
            </a:pPr>
            <a:r>
              <a:rPr lang="en-US" dirty="0"/>
              <a:t>Recall</a:t>
            </a:r>
          </a:p>
          <a:p>
            <a:pPr lvl="1">
              <a:buFont typeface="Arial" panose="020B0604020202020204" pitchFamily="34" charset="0"/>
              <a:buChar char="•"/>
            </a:pPr>
            <a:r>
              <a:rPr lang="en-US" dirty="0"/>
              <a:t>F1-Score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40288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2DF63-6395-A466-9503-543F536E2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B079D-EC46-7F3F-2E19-E343256B1F99}"/>
              </a:ext>
            </a:extLst>
          </p:cNvPr>
          <p:cNvSpPr>
            <a:spLocks noGrp="1"/>
          </p:cNvSpPr>
          <p:nvPr>
            <p:ph type="title"/>
          </p:nvPr>
        </p:nvSpPr>
        <p:spPr>
          <a:xfrm>
            <a:off x="0" y="232759"/>
            <a:ext cx="12192000" cy="714892"/>
          </a:xfrm>
        </p:spPr>
        <p:txBody>
          <a:bodyPr/>
          <a:lstStyle/>
          <a:p>
            <a:r>
              <a:rPr lang="en-US" dirty="0"/>
              <a:t>Data Flow Diagram</a:t>
            </a:r>
            <a:endParaRPr lang="en-IN" dirty="0"/>
          </a:p>
        </p:txBody>
      </p:sp>
      <p:sp>
        <p:nvSpPr>
          <p:cNvPr id="10" name="Content Placeholder 9">
            <a:extLst>
              <a:ext uri="{FF2B5EF4-FFF2-40B4-BE49-F238E27FC236}">
                <a16:creationId xmlns:a16="http://schemas.microsoft.com/office/drawing/2014/main" id="{F0D5A275-ACE9-7296-4EF6-699F6E781676}"/>
              </a:ext>
            </a:extLst>
          </p:cNvPr>
          <p:cNvSpPr>
            <a:spLocks noGrp="1"/>
          </p:cNvSpPr>
          <p:nvPr>
            <p:ph idx="1"/>
          </p:nvPr>
        </p:nvSpPr>
        <p:spPr>
          <a:xfrm>
            <a:off x="149291" y="1168399"/>
            <a:ext cx="11829350" cy="5323839"/>
          </a:xfrm>
        </p:spPr>
        <p:txBody>
          <a:bodyPr>
            <a:normAutofit/>
          </a:bodyPr>
          <a:lstStyle/>
          <a:p>
            <a:pPr marL="0" indent="0">
              <a:buNone/>
            </a:pPr>
            <a:endParaRPr lang="en-US" sz="2400" dirty="0"/>
          </a:p>
          <a:p>
            <a:endParaRPr lang="en-IN" sz="2400" dirty="0"/>
          </a:p>
        </p:txBody>
      </p:sp>
      <p:pic>
        <p:nvPicPr>
          <p:cNvPr id="4" name="Picture 3" descr="A diagram of a data processing process&#10;&#10;AI-generated content may be incorrect.">
            <a:extLst>
              <a:ext uri="{FF2B5EF4-FFF2-40B4-BE49-F238E27FC236}">
                <a16:creationId xmlns:a16="http://schemas.microsoft.com/office/drawing/2014/main" id="{35588695-7EEB-8986-CE4A-D50F4F99A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213" y="1202483"/>
            <a:ext cx="3745505" cy="5255669"/>
          </a:xfrm>
          <a:prstGeom prst="rect">
            <a:avLst/>
          </a:prstGeom>
        </p:spPr>
      </p:pic>
    </p:spTree>
    <p:extLst>
      <p:ext uri="{BB962C8B-B14F-4D97-AF65-F5344CB8AC3E}">
        <p14:creationId xmlns:p14="http://schemas.microsoft.com/office/powerpoint/2010/main" val="57163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FC22D-7AAA-2AA0-1C05-E262BAC60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43DB6-EA62-7F54-0A08-351D7D95823D}"/>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8B575FE7-97A9-2116-D2B8-CC2CCD03A8AA}"/>
              </a:ext>
            </a:extLst>
          </p:cNvPr>
          <p:cNvSpPr>
            <a:spLocks noGrp="1"/>
          </p:cNvSpPr>
          <p:nvPr>
            <p:ph idx="1"/>
          </p:nvPr>
        </p:nvSpPr>
        <p:spPr>
          <a:xfrm>
            <a:off x="149291" y="1168399"/>
            <a:ext cx="11829350" cy="5323839"/>
          </a:xfrm>
        </p:spPr>
        <p:txBody>
          <a:bodyPr>
            <a:normAutofit/>
          </a:bodyPr>
          <a:lstStyle/>
          <a:p>
            <a:pPr marL="0" indent="0">
              <a:buNone/>
            </a:pPr>
            <a:r>
              <a:rPr lang="en-US" sz="2400" b="1" dirty="0"/>
              <a:t> File Structure</a:t>
            </a:r>
            <a:endParaRPr lang="en-US" sz="2400" dirty="0"/>
          </a:p>
          <a:p>
            <a:pPr marL="0" indent="0">
              <a:buNone/>
            </a:pPr>
            <a:endParaRPr lang="en-US" sz="2400" dirty="0"/>
          </a:p>
          <a:p>
            <a:endParaRPr lang="en-IN" sz="2400" dirty="0"/>
          </a:p>
        </p:txBody>
      </p:sp>
      <p:pic>
        <p:nvPicPr>
          <p:cNvPr id="3" name="Picture 2" descr="A screenshot of a computer program&#10;&#10;AI-generated content may be incorrect.">
            <a:extLst>
              <a:ext uri="{FF2B5EF4-FFF2-40B4-BE49-F238E27FC236}">
                <a16:creationId xmlns:a16="http://schemas.microsoft.com/office/drawing/2014/main" id="{60857608-B82F-6CEF-5542-774DF9F348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t="2635" b="3754"/>
          <a:stretch/>
        </p:blipFill>
        <p:spPr>
          <a:xfrm>
            <a:off x="4271865" y="1065390"/>
            <a:ext cx="3648269" cy="5426848"/>
          </a:xfrm>
          <a:prstGeom prst="rect">
            <a:avLst/>
          </a:prstGeom>
        </p:spPr>
      </p:pic>
    </p:spTree>
    <p:extLst>
      <p:ext uri="{BB962C8B-B14F-4D97-AF65-F5344CB8AC3E}">
        <p14:creationId xmlns:p14="http://schemas.microsoft.com/office/powerpoint/2010/main" val="2778962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CB8E8-789F-076C-4A10-88E56D251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3E07F-71D0-1BEF-52B7-D216269E2BDC}"/>
              </a:ext>
            </a:extLst>
          </p:cNvPr>
          <p:cNvSpPr>
            <a:spLocks noGrp="1"/>
          </p:cNvSpPr>
          <p:nvPr>
            <p:ph type="title"/>
          </p:nvPr>
        </p:nvSpPr>
        <p:spPr>
          <a:xfrm>
            <a:off x="0" y="232759"/>
            <a:ext cx="12192000" cy="714892"/>
          </a:xfrm>
        </p:spPr>
        <p:txBody>
          <a:bodyPr/>
          <a:lstStyle/>
          <a:p>
            <a:r>
              <a:rPr lang="en-US" dirty="0"/>
              <a:t>Result</a:t>
            </a:r>
            <a:endParaRPr lang="en-IN" dirty="0"/>
          </a:p>
        </p:txBody>
      </p:sp>
      <p:sp>
        <p:nvSpPr>
          <p:cNvPr id="10" name="Content Placeholder 9">
            <a:extLst>
              <a:ext uri="{FF2B5EF4-FFF2-40B4-BE49-F238E27FC236}">
                <a16:creationId xmlns:a16="http://schemas.microsoft.com/office/drawing/2014/main" id="{169B37B7-9F7F-F3A7-21F1-CA5DCC7C3C8F}"/>
              </a:ext>
            </a:extLst>
          </p:cNvPr>
          <p:cNvSpPr>
            <a:spLocks noGrp="1"/>
          </p:cNvSpPr>
          <p:nvPr>
            <p:ph idx="1"/>
          </p:nvPr>
        </p:nvSpPr>
        <p:spPr>
          <a:xfrm>
            <a:off x="149291" y="1168399"/>
            <a:ext cx="11829350" cy="5323839"/>
          </a:xfrm>
        </p:spPr>
        <p:txBody>
          <a:bodyPr>
            <a:normAutofit/>
          </a:bodyPr>
          <a:lstStyle/>
          <a:p>
            <a:pPr marL="0" indent="0" algn="ctr">
              <a:buNone/>
            </a:pPr>
            <a:r>
              <a:rPr lang="en-US" sz="2400" b="1" dirty="0"/>
              <a:t> Testing Screen</a:t>
            </a:r>
            <a:endParaRPr lang="en-US" sz="2400" dirty="0"/>
          </a:p>
          <a:p>
            <a:endParaRPr lang="en-IN" sz="2400" dirty="0"/>
          </a:p>
        </p:txBody>
      </p:sp>
      <p:pic>
        <p:nvPicPr>
          <p:cNvPr id="5" name="Picture 4" descr="A screenshot of a computer&#10;&#10;AI-generated content may be incorrect.">
            <a:extLst>
              <a:ext uri="{FF2B5EF4-FFF2-40B4-BE49-F238E27FC236}">
                <a16:creationId xmlns:a16="http://schemas.microsoft.com/office/drawing/2014/main" id="{4E982BA5-23C0-89D2-FB11-DFBE272CCF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7137" y="1662214"/>
            <a:ext cx="8320000" cy="4680000"/>
          </a:xfrm>
          <a:prstGeom prst="rect">
            <a:avLst/>
          </a:prstGeom>
        </p:spPr>
      </p:pic>
    </p:spTree>
    <p:extLst>
      <p:ext uri="{BB962C8B-B14F-4D97-AF65-F5344CB8AC3E}">
        <p14:creationId xmlns:p14="http://schemas.microsoft.com/office/powerpoint/2010/main" val="3274880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E54C5-C64F-1EF6-7AF5-EAFCB6EC3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2AB23-405D-294B-ADA9-9869452DE0D5}"/>
              </a:ext>
            </a:extLst>
          </p:cNvPr>
          <p:cNvSpPr>
            <a:spLocks noGrp="1"/>
          </p:cNvSpPr>
          <p:nvPr>
            <p:ph type="title"/>
          </p:nvPr>
        </p:nvSpPr>
        <p:spPr>
          <a:xfrm>
            <a:off x="0" y="232759"/>
            <a:ext cx="12192000" cy="714892"/>
          </a:xfrm>
        </p:spPr>
        <p:txBody>
          <a:bodyPr/>
          <a:lstStyle/>
          <a:p>
            <a:r>
              <a:rPr lang="en-US" dirty="0"/>
              <a:t>Result</a:t>
            </a:r>
            <a:endParaRPr lang="en-IN" dirty="0"/>
          </a:p>
        </p:txBody>
      </p:sp>
      <p:sp>
        <p:nvSpPr>
          <p:cNvPr id="10" name="Content Placeholder 9">
            <a:extLst>
              <a:ext uri="{FF2B5EF4-FFF2-40B4-BE49-F238E27FC236}">
                <a16:creationId xmlns:a16="http://schemas.microsoft.com/office/drawing/2014/main" id="{204FA838-6290-3703-0145-B50EB91CAAAC}"/>
              </a:ext>
            </a:extLst>
          </p:cNvPr>
          <p:cNvSpPr>
            <a:spLocks noGrp="1"/>
          </p:cNvSpPr>
          <p:nvPr>
            <p:ph idx="1"/>
          </p:nvPr>
        </p:nvSpPr>
        <p:spPr>
          <a:xfrm>
            <a:off x="149291" y="1168399"/>
            <a:ext cx="11829350" cy="5323839"/>
          </a:xfrm>
        </p:spPr>
        <p:txBody>
          <a:bodyPr>
            <a:normAutofit/>
          </a:bodyPr>
          <a:lstStyle/>
          <a:p>
            <a:pPr marL="0" indent="0" algn="ctr">
              <a:buNone/>
            </a:pPr>
            <a:r>
              <a:rPr lang="en-US" sz="2400" b="1" dirty="0"/>
              <a:t> Test case Result 1</a:t>
            </a:r>
            <a:endParaRPr lang="en-US" sz="2400" dirty="0"/>
          </a:p>
          <a:p>
            <a:endParaRPr lang="en-IN" sz="2400" dirty="0"/>
          </a:p>
        </p:txBody>
      </p:sp>
      <p:pic>
        <p:nvPicPr>
          <p:cNvPr id="9" name="Picture 8" descr="A screenshot of a computer&#10;&#10;AI-generated content may be incorrect.">
            <a:extLst>
              <a:ext uri="{FF2B5EF4-FFF2-40B4-BE49-F238E27FC236}">
                <a16:creationId xmlns:a16="http://schemas.microsoft.com/office/drawing/2014/main" id="{C3272A31-42C5-6C5A-F99D-06DD7450A3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9010" y="1637497"/>
            <a:ext cx="8320000" cy="4680000"/>
          </a:xfrm>
          <a:prstGeom prst="rect">
            <a:avLst/>
          </a:prstGeom>
        </p:spPr>
      </p:pic>
    </p:spTree>
    <p:extLst>
      <p:ext uri="{BB962C8B-B14F-4D97-AF65-F5344CB8AC3E}">
        <p14:creationId xmlns:p14="http://schemas.microsoft.com/office/powerpoint/2010/main" val="1373290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621D6-E496-CD98-C066-85A9B0C9A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6A588-1D65-E549-6923-A4D9EECFA477}"/>
              </a:ext>
            </a:extLst>
          </p:cNvPr>
          <p:cNvSpPr>
            <a:spLocks noGrp="1"/>
          </p:cNvSpPr>
          <p:nvPr>
            <p:ph type="title"/>
          </p:nvPr>
        </p:nvSpPr>
        <p:spPr>
          <a:xfrm>
            <a:off x="0" y="232759"/>
            <a:ext cx="12192000" cy="714892"/>
          </a:xfrm>
        </p:spPr>
        <p:txBody>
          <a:bodyPr/>
          <a:lstStyle/>
          <a:p>
            <a:r>
              <a:rPr lang="en-US" dirty="0"/>
              <a:t>Result</a:t>
            </a:r>
            <a:endParaRPr lang="en-IN" dirty="0"/>
          </a:p>
        </p:txBody>
      </p:sp>
      <p:sp>
        <p:nvSpPr>
          <p:cNvPr id="10" name="Content Placeholder 9">
            <a:extLst>
              <a:ext uri="{FF2B5EF4-FFF2-40B4-BE49-F238E27FC236}">
                <a16:creationId xmlns:a16="http://schemas.microsoft.com/office/drawing/2014/main" id="{81A3081A-6601-0D0D-E82B-E6872D7D2FD6}"/>
              </a:ext>
            </a:extLst>
          </p:cNvPr>
          <p:cNvSpPr>
            <a:spLocks noGrp="1"/>
          </p:cNvSpPr>
          <p:nvPr>
            <p:ph idx="1"/>
          </p:nvPr>
        </p:nvSpPr>
        <p:spPr>
          <a:xfrm>
            <a:off x="149291" y="1168399"/>
            <a:ext cx="11829350" cy="5323839"/>
          </a:xfrm>
        </p:spPr>
        <p:txBody>
          <a:bodyPr>
            <a:normAutofit/>
          </a:bodyPr>
          <a:lstStyle/>
          <a:p>
            <a:pPr marL="0" indent="0" algn="ctr">
              <a:buNone/>
            </a:pPr>
            <a:r>
              <a:rPr lang="en-US" sz="2400" b="1" dirty="0"/>
              <a:t> Test case Result 2</a:t>
            </a:r>
            <a:endParaRPr lang="en-US" sz="2400" dirty="0"/>
          </a:p>
          <a:p>
            <a:endParaRPr lang="en-IN" sz="2400" dirty="0"/>
          </a:p>
        </p:txBody>
      </p:sp>
      <p:pic>
        <p:nvPicPr>
          <p:cNvPr id="4" name="Picture 3">
            <a:extLst>
              <a:ext uri="{FF2B5EF4-FFF2-40B4-BE49-F238E27FC236}">
                <a16:creationId xmlns:a16="http://schemas.microsoft.com/office/drawing/2014/main" id="{CBD50B67-15C1-AD5C-31E6-4BF300F9E4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3966" y="1668379"/>
            <a:ext cx="8320000" cy="4680000"/>
          </a:xfrm>
          <a:prstGeom prst="rect">
            <a:avLst/>
          </a:prstGeom>
        </p:spPr>
      </p:pic>
    </p:spTree>
    <p:extLst>
      <p:ext uri="{BB962C8B-B14F-4D97-AF65-F5344CB8AC3E}">
        <p14:creationId xmlns:p14="http://schemas.microsoft.com/office/powerpoint/2010/main" val="2223089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a:xfrm>
            <a:off x="199505" y="1586203"/>
            <a:ext cx="11779135" cy="4906035"/>
          </a:xfrm>
        </p:spPr>
        <p:txBody>
          <a:bodyPr>
            <a:norm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CNN-</a:t>
            </a:r>
            <a:r>
              <a:rPr lang="en-US" sz="2400" dirty="0" err="1">
                <a:latin typeface="Times New Roman" panose="02020603050405020304" pitchFamily="18" charset="0"/>
                <a:cs typeface="Times New Roman" panose="02020603050405020304" pitchFamily="18" charset="0"/>
              </a:rPr>
              <a:t>FastText</a:t>
            </a:r>
            <a:r>
              <a:rPr lang="en-US" sz="2400" dirty="0">
                <a:latin typeface="Times New Roman" panose="02020603050405020304" pitchFamily="18" charset="0"/>
                <a:cs typeface="Times New Roman" panose="02020603050405020304" pitchFamily="18" charset="0"/>
              </a:rPr>
              <a:t> provides an optimal balance between </a:t>
            </a:r>
            <a:r>
              <a:rPr lang="en-US" sz="2400" b="1" dirty="0">
                <a:latin typeface="Times New Roman" panose="02020603050405020304" pitchFamily="18" charset="0"/>
                <a:cs typeface="Times New Roman" panose="02020603050405020304" pitchFamily="18" charset="0"/>
              </a:rPr>
              <a:t>accuracy, speed, and efficiency</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outperforms various traditional ML approaches.</a:t>
            </a: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While deep Transformer models like BERT are powerful, CNN-</a:t>
            </a:r>
            <a:r>
              <a:rPr lang="en-US" sz="2400" dirty="0" err="1">
                <a:latin typeface="Times New Roman" panose="02020603050405020304" pitchFamily="18" charset="0"/>
                <a:cs typeface="Times New Roman" panose="02020603050405020304" pitchFamily="18" charset="0"/>
              </a:rPr>
              <a:t>FastText</a:t>
            </a:r>
            <a:r>
              <a:rPr lang="en-US" sz="2400" dirty="0">
                <a:latin typeface="Times New Roman" panose="02020603050405020304" pitchFamily="18" charset="0"/>
                <a:cs typeface="Times New Roman" panose="02020603050405020304" pitchFamily="18" charset="0"/>
              </a:rPr>
              <a:t> is </a:t>
            </a:r>
            <a:r>
              <a:rPr lang="en-US" sz="2400" b="1" dirty="0">
                <a:latin typeface="Times New Roman" panose="02020603050405020304" pitchFamily="18" charset="0"/>
                <a:cs typeface="Times New Roman" panose="02020603050405020304" pitchFamily="18" charset="0"/>
              </a:rPr>
              <a:t>more practical for real-world applications</a:t>
            </a:r>
            <a:r>
              <a:rPr lang="en-US" sz="2400" dirty="0">
                <a:latin typeface="Times New Roman" panose="02020603050405020304" pitchFamily="18" charset="0"/>
                <a:cs typeface="Times New Roman" panose="02020603050405020304" pitchFamily="18" charset="0"/>
              </a:rPr>
              <a:t> due to lower computational costs and better adaptability to short text.</a:t>
            </a:r>
          </a:p>
          <a:p>
            <a:pPr marL="577850" indent="-577850">
              <a:buNone/>
            </a:pPr>
            <a:endParaRPr lang="en-IN" sz="2400" dirty="0"/>
          </a:p>
        </p:txBody>
      </p:sp>
    </p:spTree>
    <p:extLst>
      <p:ext uri="{BB962C8B-B14F-4D97-AF65-F5344CB8AC3E}">
        <p14:creationId xmlns:p14="http://schemas.microsoft.com/office/powerpoint/2010/main" val="2003123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a:xfrm>
            <a:off x="0" y="223428"/>
            <a:ext cx="12192000" cy="714892"/>
          </a:xfrm>
        </p:spPr>
        <p:txBody>
          <a:bodyPr/>
          <a:lstStyle/>
          <a:p>
            <a:r>
              <a:rPr lang="en-IN" dirty="0"/>
              <a:t>References</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noAutofit/>
          </a:bodyPr>
          <a:lstStyle/>
          <a:p>
            <a:pPr marL="577850" indent="-577850">
              <a:lnSpc>
                <a:spcPct val="100000"/>
              </a:lnSpc>
              <a:buNone/>
            </a:pPr>
            <a:r>
              <a:rPr lang="en-IN" sz="2000" dirty="0"/>
              <a:t>[1]. T. </a:t>
            </a:r>
            <a:r>
              <a:rPr lang="en-IN" sz="2000" dirty="0" err="1"/>
              <a:t>Fagni</a:t>
            </a:r>
            <a:r>
              <a:rPr lang="en-IN" sz="2000" dirty="0"/>
              <a:t>, F. Falchi, M. Gambini, et al., “</a:t>
            </a:r>
            <a:r>
              <a:rPr lang="en-IN" sz="2000" dirty="0" err="1"/>
              <a:t>Tweepfake</a:t>
            </a:r>
            <a:r>
              <a:rPr lang="en-IN" sz="2000" dirty="0"/>
              <a:t>: About detecting deepfake tweets,” PLOS One, vol. 16, pp. 1–20, Jan. 2021.</a:t>
            </a:r>
          </a:p>
          <a:p>
            <a:pPr marL="577850" indent="-577850">
              <a:lnSpc>
                <a:spcPct val="100000"/>
              </a:lnSpc>
              <a:buNone/>
            </a:pPr>
            <a:endParaRPr lang="en-IN" sz="2000" dirty="0"/>
          </a:p>
          <a:p>
            <a:pPr marL="577850" indent="-577850">
              <a:lnSpc>
                <a:spcPct val="100000"/>
              </a:lnSpc>
              <a:buNone/>
            </a:pPr>
            <a:r>
              <a:rPr lang="en-IN" sz="2000" dirty="0"/>
              <a:t>[2]. S. </a:t>
            </a:r>
            <a:r>
              <a:rPr lang="en-IN" sz="2000" dirty="0" err="1"/>
              <a:t>Mitrović</a:t>
            </a:r>
            <a:r>
              <a:rPr lang="en-IN" sz="2000" dirty="0"/>
              <a:t>, D. </a:t>
            </a:r>
            <a:r>
              <a:rPr lang="en-IN" sz="2000" dirty="0" err="1"/>
              <a:t>Andreoletti</a:t>
            </a:r>
            <a:r>
              <a:rPr lang="en-IN" sz="2000" dirty="0"/>
              <a:t>, and O. Ayoub, “ChatGPT or human? Detect and explain,” </a:t>
            </a:r>
            <a:r>
              <a:rPr lang="en-IN" sz="2000" dirty="0" err="1"/>
              <a:t>arxiv</a:t>
            </a:r>
            <a:r>
              <a:rPr lang="en-IN" sz="2000" dirty="0"/>
              <a:t> preprint, vol. 2023, pp. 1–10, Jan. 2023.</a:t>
            </a:r>
          </a:p>
          <a:p>
            <a:pPr marL="577850" indent="-577850">
              <a:lnSpc>
                <a:spcPct val="100000"/>
              </a:lnSpc>
              <a:buNone/>
            </a:pPr>
            <a:endParaRPr lang="en-IN" sz="2000" dirty="0"/>
          </a:p>
          <a:p>
            <a:pPr marL="577850" indent="-577850">
              <a:lnSpc>
                <a:spcPct val="100000"/>
              </a:lnSpc>
              <a:buNone/>
            </a:pPr>
            <a:r>
              <a:rPr lang="en-IN" sz="2000" dirty="0"/>
              <a:t>[3]. R. Vaibhav, R. Furqan, A. </a:t>
            </a:r>
            <a:r>
              <a:rPr lang="en-IN" sz="2000" dirty="0" err="1"/>
              <a:t>Aashir</a:t>
            </a:r>
            <a:r>
              <a:rPr lang="en-IN" sz="2000" dirty="0"/>
              <a:t>, P. B. Washington, E. Lee, and A. Imran, “Deepfake tweets classification using stacked Bi-LSTM and word embeddings,” </a:t>
            </a:r>
            <a:r>
              <a:rPr lang="en-IN" sz="2000" dirty="0" err="1"/>
              <a:t>PeerJ</a:t>
            </a:r>
            <a:r>
              <a:rPr lang="en-IN" sz="2000" dirty="0"/>
              <a:t> </a:t>
            </a:r>
            <a:r>
              <a:rPr lang="en-IN" sz="2000" dirty="0" err="1"/>
              <a:t>Comput</a:t>
            </a:r>
            <a:r>
              <a:rPr lang="en-IN" sz="2000" dirty="0"/>
              <a:t>. Sci., vol. 7, pp. e745, Dec. 2021.</a:t>
            </a:r>
          </a:p>
          <a:p>
            <a:pPr marL="577850" indent="-577850">
              <a:lnSpc>
                <a:spcPct val="100000"/>
              </a:lnSpc>
              <a:buNone/>
            </a:pPr>
            <a:endParaRPr lang="en-IN" sz="2000" dirty="0"/>
          </a:p>
          <a:p>
            <a:pPr marL="577850" indent="-577850">
              <a:lnSpc>
                <a:spcPct val="100000"/>
              </a:lnSpc>
              <a:buNone/>
            </a:pPr>
            <a:r>
              <a:rPr lang="en-IN" sz="2000" dirty="0"/>
              <a:t>[4]. A. </a:t>
            </a:r>
            <a:r>
              <a:rPr lang="en-IN" sz="2000" dirty="0" err="1"/>
              <a:t>Heidari</a:t>
            </a:r>
            <a:r>
              <a:rPr lang="en-IN" sz="2000" dirty="0"/>
              <a:t>, N. J. </a:t>
            </a:r>
            <a:r>
              <a:rPr lang="en-IN" sz="2000" dirty="0" err="1"/>
              <a:t>Navimipour</a:t>
            </a:r>
            <a:r>
              <a:rPr lang="en-IN" sz="2000" dirty="0"/>
              <a:t>, H. Dag, and M. Unal, “Deepfake detection using deep learning methods: A systematic and comprehensive review,” WIRES Data Mining and Knowledge Discovery, vol. 14, no. 2, pp. e1520, Mar. 2024.</a:t>
            </a:r>
          </a:p>
          <a:p>
            <a:pPr marL="577850" indent="-577850">
              <a:lnSpc>
                <a:spcPct val="100000"/>
              </a:lnSpc>
              <a:buNone/>
            </a:pPr>
            <a:endParaRPr lang="en-IN" sz="2000" dirty="0"/>
          </a:p>
        </p:txBody>
      </p:sp>
    </p:spTree>
    <p:extLst>
      <p:ext uri="{BB962C8B-B14F-4D97-AF65-F5344CB8AC3E}">
        <p14:creationId xmlns:p14="http://schemas.microsoft.com/office/powerpoint/2010/main" val="788754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8E053-2661-E66A-C238-6EF479BBA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39B4D-C1DE-DE7C-D5F3-D88072C8B709}"/>
              </a:ext>
            </a:extLst>
          </p:cNvPr>
          <p:cNvSpPr>
            <a:spLocks noGrp="1"/>
          </p:cNvSpPr>
          <p:nvPr>
            <p:ph type="title"/>
          </p:nvPr>
        </p:nvSpPr>
        <p:spPr>
          <a:xfrm>
            <a:off x="0" y="223428"/>
            <a:ext cx="12192000" cy="714892"/>
          </a:xfrm>
        </p:spPr>
        <p:txBody>
          <a:bodyPr/>
          <a:lstStyle/>
          <a:p>
            <a:r>
              <a:rPr lang="en-IN" dirty="0"/>
              <a:t>Paper Submission Proof</a:t>
            </a:r>
          </a:p>
        </p:txBody>
      </p:sp>
      <p:pic>
        <p:nvPicPr>
          <p:cNvPr id="6" name="Picture 5" descr="A screenshot of a computer&#10;&#10;AI-generated content may be incorrect.">
            <a:extLst>
              <a:ext uri="{FF2B5EF4-FFF2-40B4-BE49-F238E27FC236}">
                <a16:creationId xmlns:a16="http://schemas.microsoft.com/office/drawing/2014/main" id="{3BBE3DE1-CA95-ABF9-6BFB-CCF959DDFB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49" y="1295281"/>
            <a:ext cx="10782300" cy="4877038"/>
          </a:xfrm>
          <a:prstGeom prst="rect">
            <a:avLst/>
          </a:prstGeom>
        </p:spPr>
      </p:pic>
    </p:spTree>
    <p:extLst>
      <p:ext uri="{BB962C8B-B14F-4D97-AF65-F5344CB8AC3E}">
        <p14:creationId xmlns:p14="http://schemas.microsoft.com/office/powerpoint/2010/main" val="1157650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709</TotalTime>
  <Words>1745</Words>
  <Application>Microsoft Office PowerPoint</Application>
  <PresentationFormat>Widescreen</PresentationFormat>
  <Paragraphs>180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Courier New</vt:lpstr>
      <vt:lpstr>Times New Roman</vt:lpstr>
      <vt:lpstr>Wingdings</vt:lpstr>
      <vt:lpstr>Custom Design</vt:lpstr>
      <vt:lpstr>PowerPoint Presentation</vt:lpstr>
      <vt:lpstr>Abstract</vt:lpstr>
      <vt:lpstr>Contents</vt:lpstr>
      <vt:lpstr>Introduction</vt:lpstr>
      <vt:lpstr>Literature Survey</vt:lpstr>
      <vt:lpstr>Literature Survey</vt:lpstr>
      <vt:lpstr>Existing System</vt:lpstr>
      <vt:lpstr>Proposed System</vt:lpstr>
      <vt:lpstr>Objectives</vt:lpstr>
      <vt:lpstr>Requirements</vt:lpstr>
      <vt:lpstr>System Architecture</vt:lpstr>
      <vt:lpstr>contd..</vt:lpstr>
      <vt:lpstr>contd..</vt:lpstr>
      <vt:lpstr>contd..</vt:lpstr>
      <vt:lpstr>Data Flow Diagram</vt:lpstr>
      <vt:lpstr>Implementation</vt:lpstr>
      <vt:lpstr>Result</vt:lpstr>
      <vt:lpstr>Result</vt:lpstr>
      <vt:lpstr>Result</vt:lpstr>
      <vt:lpstr>Conclusion</vt:lpstr>
      <vt:lpstr>References</vt:lpstr>
      <vt:lpstr>Paper Submission Proof</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Nadeem Avulapalli</cp:lastModifiedBy>
  <cp:revision>108</cp:revision>
  <dcterms:created xsi:type="dcterms:W3CDTF">2019-06-11T05:35:51Z</dcterms:created>
  <dcterms:modified xsi:type="dcterms:W3CDTF">2025-04-12T05:55:53Z</dcterms:modified>
</cp:coreProperties>
</file>